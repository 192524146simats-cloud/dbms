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9" r:id="rId5"/>
    <p:sldId id="262" r:id="rId6"/>
    <p:sldId id="263" r:id="rId7"/>
    <p:sldId id="264" r:id="rId8"/>
    <p:sldId id="266" r:id="rId9"/>
    <p:sldId id="265" r:id="rId10"/>
    <p:sldId id="267" r:id="rId11"/>
    <p:sldId id="268" r:id="rId12"/>
    <p:sldId id="269" r:id="rId13"/>
    <p:sldId id="271" r:id="rId14"/>
    <p:sldId id="273" r:id="rId15"/>
    <p:sldId id="274" r:id="rId16"/>
    <p:sldId id="275" r:id="rId17"/>
    <p:sldId id="277" r:id="rId18"/>
    <p:sldId id="276" r:id="rId19"/>
    <p:sldId id="278" r:id="rId20"/>
    <p:sldId id="279" r:id="rId21"/>
    <p:sldId id="280" r:id="rId22"/>
    <p:sldId id="282" r:id="rId23"/>
    <p:sldId id="285" r:id="rId24"/>
    <p:sldId id="281" r:id="rId25"/>
    <p:sldId id="283" r:id="rId26"/>
    <p:sldId id="284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B2DFA67-C681-4287-AE62-F463AA859C00}" v="26" dt="2026-07-24T05:58:15.4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6E538-19B4-60CD-76F5-26AC532C21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A3941C-A2DB-F5AA-D6B7-7177184F2F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DF0B59-2AFA-0B74-AF19-F26648B44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F5445-7CDC-42F3-82A7-1B21EB211D51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15EC05-1AA3-3190-487E-7449FD4DF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0099B5-7A4F-C1EF-92D2-53A4DF567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C277E-57F0-4715-BF14-0F44269B6F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928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1633B-7A01-FCAA-2EC6-6346E5DD3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7C285-0F9B-B211-87DB-87DFC07D31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42D264-FCC5-0381-9E16-B6CCE10AF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F5445-7CDC-42F3-82A7-1B21EB211D51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48193C-0579-6B1A-AE23-44F6122E4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C08A09-BD54-2667-1FD5-B9C05B39F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C277E-57F0-4715-BF14-0F44269B6F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58320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3DE01-47C7-6EC0-E9FF-14DA2540BF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977397-92C0-D736-543A-2F45345F67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790A1-9502-0BD7-D227-EFCAD5FFB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F5445-7CDC-42F3-82A7-1B21EB211D51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852B77-191B-CBB7-61C6-84CFCB543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1CD1FE-5A6F-D5DB-D8D6-2A1BDB481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C277E-57F0-4715-BF14-0F44269B6F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49690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66142-63CB-0216-ABE5-BA96A3E55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49176E-9762-8500-5D71-0D096A1D6D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4CD276-79C8-A5DD-C9B6-D0DD62B1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927AE7-2AC6-4B51-0BC1-260FDF8CD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F5445-7CDC-42F3-82A7-1B21EB211D51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3C401D-3213-2B2A-44E9-C32284D6D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32ABE3-42E4-E1B7-A794-74E292824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C277E-57F0-4715-BF14-0F44269B6F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41303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62AE2-657D-E39B-A1BF-90F974335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B74C94-42AA-BE58-6461-5281E02F8B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F651F2-6B95-6E95-E458-59ADF960EF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578454-BC65-F37A-4578-FC8CFB2477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FE448A-8BE8-E2FA-66A2-8C57815832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9A43FB-73BD-B72C-FB70-9F72D91DB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F5445-7CDC-42F3-82A7-1B21EB211D51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35BA54-4AD1-242D-39E3-09AC977C2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0E4057-974F-5D8E-2F31-C543F9B15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C277E-57F0-4715-BF14-0F44269B6F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40654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61AB7-27F1-7981-D015-22AFD57E5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243194-B941-638C-531F-D864F8FAF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F5445-7CDC-42F3-82A7-1B21EB211D51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97AF21-0389-ECAD-144B-07C3ADBEB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3D78EA-9658-8B11-845B-307BEA51D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C277E-57F0-4715-BF14-0F44269B6F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0688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D2D967-21A1-DBC4-65BD-B5B51AE8B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F5445-7CDC-42F3-82A7-1B21EB211D51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3B19A4-DA7B-DB62-F7AA-D4EED390A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8B0F81-DD50-FFD0-B65F-E22D4BDC0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C277E-57F0-4715-BF14-0F44269B6F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60067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71268-EC09-97E6-CC2D-401AA83B7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8B8951-D97B-EE8A-3ED3-1F79DBC0C6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F76050-5A26-7DFC-E16C-24D88835C1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16218C-B524-82EE-5029-A5C9CCC92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F5445-7CDC-42F3-82A7-1B21EB211D51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E6DA03-23AC-8FD0-8680-0E2C8891C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EC5A37-A8B5-AD89-D5CD-6B8E45586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C277E-57F0-4715-BF14-0F44269B6F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01349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AE40E-857B-AEDF-4B6D-F939298E4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703B3B-64CC-56F7-2A50-6B2490C33A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06C2F-E048-0982-1027-43D99D8FBC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FB98B2-9481-8E71-B90B-0A0F5F22F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F5445-7CDC-42F3-82A7-1B21EB211D51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D3F5DC-6168-B41B-6D7C-ACEE9561D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7A764F-1E75-4919-02A3-66B76CD1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C277E-57F0-4715-BF14-0F44269B6F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54346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7E7C9-CD5A-C0D5-34CF-F0D131AB6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47227D-8D76-A5A9-4905-255F5E0E6D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55C137-D017-A93F-48AF-E6C8AABAB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F5445-7CDC-42F3-82A7-1B21EB211D51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CF2851-B9AD-0486-3BD2-8D8EC12ED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BD9013-A21D-524C-5E84-876C88B72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C277E-57F0-4715-BF14-0F44269B6F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8009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88C55C-F056-6F19-E664-455E60E434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954487-FA55-3BDD-AE0C-1B935EBAD4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6973D6-089C-8E83-2C1A-EDC0E5D39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F5445-7CDC-42F3-82A7-1B21EB211D51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5ACE42-5CE2-A1EF-77E9-E47AB3480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6BAB29-BCB2-F2FC-D672-EE5261F98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C277E-57F0-4715-BF14-0F44269B6F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2498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2C9E08-24A9-B0F5-210D-244C6EC7E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7787E5-BCC7-5B7B-842D-6CE8C9EBA9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58F850-0EA8-F4C9-E7F6-34D47E404C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BF5445-7CDC-42F3-82A7-1B21EB211D51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CCB90C-CBDD-36F2-6501-0675705ADC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D43F0-8ACF-9DC4-B582-74FAE38803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EC277E-57F0-4715-BF14-0F44269B6F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8376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A3585-F899-75D1-FA6F-4A1A118672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528" y="3008957"/>
            <a:ext cx="11244943" cy="249237"/>
          </a:xfrm>
        </p:spPr>
        <p:txBody>
          <a:bodyPr>
            <a:noAutofit/>
          </a:bodyPr>
          <a:lstStyle/>
          <a:p>
            <a:r>
              <a:rPr lang="en-US" sz="4800" dirty="0">
                <a:latin typeface="Times New Roman" pitchFamily="18" charset="0"/>
                <a:cs typeface="Times New Roman" pitchFamily="18" charset="0"/>
              </a:rPr>
              <a:t>CO1-AT3-TECHNICAL PRESENTATION</a:t>
            </a:r>
            <a:endParaRPr lang="en-IN" sz="4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7E0FFE-CDE6-14F8-151A-D44F03590E55}"/>
              </a:ext>
            </a:extLst>
          </p:cNvPr>
          <p:cNvSpPr txBox="1"/>
          <p:nvPr/>
        </p:nvSpPr>
        <p:spPr>
          <a:xfrm>
            <a:off x="3317421" y="3599806"/>
            <a:ext cx="6098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CSA0509 : Database Management Systems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0508FF5-8D04-ACD8-EEB6-9F59FCFCDB9F}"/>
              </a:ext>
            </a:extLst>
          </p:cNvPr>
          <p:cNvSpPr txBox="1"/>
          <p:nvPr/>
        </p:nvSpPr>
        <p:spPr>
          <a:xfrm rot="10800000" flipV="1">
            <a:off x="1328058" y="4980621"/>
            <a:ext cx="397872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Dr.  C. Kesavan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FF1A37-BD76-E5C5-766B-FCEC543E0569}"/>
              </a:ext>
            </a:extLst>
          </p:cNvPr>
          <p:cNvSpPr txBox="1"/>
          <p:nvPr/>
        </p:nvSpPr>
        <p:spPr>
          <a:xfrm>
            <a:off x="7113817" y="4980622"/>
            <a:ext cx="60987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PRESENTED BY :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      Jaya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shree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.S (192524146)</a:t>
            </a:r>
          </a:p>
        </p:txBody>
      </p:sp>
      <p:pic>
        <p:nvPicPr>
          <p:cNvPr id="16" name="Picture 1">
            <a:extLst>
              <a:ext uri="{FF2B5EF4-FFF2-40B4-BE49-F238E27FC236}">
                <a16:creationId xmlns:a16="http://schemas.microsoft.com/office/drawing/2014/main" id="{6CCC12FC-8C19-FD96-343E-104E8B1997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94" y="392426"/>
            <a:ext cx="12155905" cy="1358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077473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C0B5A-AFE5-6779-094B-C4B3AD8F3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757" y="1600201"/>
            <a:ext cx="10521041" cy="783770"/>
          </a:xfrm>
        </p:spPr>
        <p:txBody>
          <a:bodyPr>
            <a:normAutofit/>
          </a:bodyPr>
          <a:lstStyle/>
          <a:p>
            <a:r>
              <a:rPr lang="en-IN" sz="4000" dirty="0"/>
              <a:t>Introduction </a:t>
            </a:r>
            <a:r>
              <a:rPr lang="en-IN" dirty="0"/>
              <a:t>:-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500941-A747-80ED-B402-D510686F50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9186" y="2220685"/>
            <a:ext cx="10254343" cy="3984171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endParaRPr lang="en-IN" b="1" dirty="0"/>
          </a:p>
          <a:p>
            <a:pPr marL="0" indent="0">
              <a:lnSpc>
                <a:spcPct val="170000"/>
              </a:lnSpc>
              <a:buNone/>
            </a:pPr>
            <a:r>
              <a:rPr lang="en-IN" sz="9600" dirty="0"/>
              <a:t>         An   Online  Library  System is a database   application  used to manage   books, members, authors, and book borrowing activities. It helps users  search, borrow, and return books efficiently.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IN" sz="9600" b="1" dirty="0"/>
              <a:t> Objectives</a:t>
            </a:r>
            <a:endParaRPr lang="en-IN" sz="9600" dirty="0"/>
          </a:p>
          <a:p>
            <a:pPr lvl="2"/>
            <a:r>
              <a:rPr lang="en-IN" sz="8800" dirty="0"/>
              <a:t>Store book information </a:t>
            </a:r>
          </a:p>
          <a:p>
            <a:pPr lvl="2"/>
            <a:r>
              <a:rPr lang="en-IN" sz="8800" dirty="0"/>
              <a:t>Manage members </a:t>
            </a:r>
          </a:p>
          <a:p>
            <a:pPr lvl="2"/>
            <a:r>
              <a:rPr lang="en-IN" sz="8800" dirty="0"/>
              <a:t>Reduce manual work 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230CA9-CC83-487C-7951-99C0B38F73B6}"/>
              </a:ext>
            </a:extLst>
          </p:cNvPr>
          <p:cNvSpPr txBox="1"/>
          <p:nvPr/>
        </p:nvSpPr>
        <p:spPr>
          <a:xfrm>
            <a:off x="1907041" y="520982"/>
            <a:ext cx="83779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dirty="0"/>
              <a:t>Q1) ER Diagram for Online Library System</a:t>
            </a:r>
          </a:p>
        </p:txBody>
      </p:sp>
      <p:sp>
        <p:nvSpPr>
          <p:cNvPr id="6" name="Freeform 4">
            <a:extLst>
              <a:ext uri="{FF2B5EF4-FFF2-40B4-BE49-F238E27FC236}">
                <a16:creationId xmlns:a16="http://schemas.microsoft.com/office/drawing/2014/main" id="{DB5667CD-6F0A-69C5-DA0F-F2BC6FD9B034}"/>
              </a:ext>
            </a:extLst>
          </p:cNvPr>
          <p:cNvSpPr/>
          <p:nvPr/>
        </p:nvSpPr>
        <p:spPr>
          <a:xfrm>
            <a:off x="399818" y="342176"/>
            <a:ext cx="1249368" cy="1094232"/>
          </a:xfrm>
          <a:custGeom>
            <a:avLst/>
            <a:gdLst/>
            <a:ahLst/>
            <a:cxnLst/>
            <a:rect l="l" t="t" r="r" b="b"/>
            <a:pathLst>
              <a:path w="1520483" h="1928257">
                <a:moveTo>
                  <a:pt x="0" y="0"/>
                </a:moveTo>
                <a:lnTo>
                  <a:pt x="1520482" y="0"/>
                </a:lnTo>
                <a:lnTo>
                  <a:pt x="1520482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1A5B283C-2277-FA74-E0D7-49F41FC80CB1}"/>
              </a:ext>
            </a:extLst>
          </p:cNvPr>
          <p:cNvSpPr/>
          <p:nvPr/>
        </p:nvSpPr>
        <p:spPr>
          <a:xfrm>
            <a:off x="10542812" y="411480"/>
            <a:ext cx="1360717" cy="955624"/>
          </a:xfrm>
          <a:custGeom>
            <a:avLst/>
            <a:gdLst/>
            <a:ahLst/>
            <a:cxnLst/>
            <a:rect l="l" t="t" r="r" b="b"/>
            <a:pathLst>
              <a:path w="1938300" h="1928257">
                <a:moveTo>
                  <a:pt x="0" y="0"/>
                </a:moveTo>
                <a:lnTo>
                  <a:pt x="1938300" y="0"/>
                </a:lnTo>
                <a:lnTo>
                  <a:pt x="1938300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001"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7360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E3A990E-0AF5-B013-9D10-66676004C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Components of ER Diagram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283C043-5E5D-4A37-ADC7-C5CE7609EB2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1) Entity</a:t>
            </a:r>
          </a:p>
          <a:p>
            <a:pPr lvl="1"/>
            <a:r>
              <a:rPr lang="en-IN" dirty="0"/>
              <a:t>Represents a real-world object. </a:t>
            </a:r>
          </a:p>
          <a:p>
            <a:pPr lvl="1"/>
            <a:r>
              <a:rPr lang="en-IN" dirty="0"/>
              <a:t>Shown using a Rectangle. </a:t>
            </a:r>
          </a:p>
          <a:p>
            <a:pPr marL="0" indent="0">
              <a:buNone/>
            </a:pPr>
            <a:r>
              <a:rPr lang="en-IN" dirty="0"/>
              <a:t>Examples: </a:t>
            </a:r>
          </a:p>
          <a:p>
            <a:pPr lvl="1"/>
            <a:r>
              <a:rPr lang="en-IN" dirty="0"/>
              <a:t>Book </a:t>
            </a:r>
          </a:p>
          <a:p>
            <a:pPr lvl="1"/>
            <a:r>
              <a:rPr lang="en-IN" dirty="0"/>
              <a:t>Member </a:t>
            </a:r>
          </a:p>
          <a:p>
            <a:pPr lvl="1"/>
            <a:r>
              <a:rPr lang="en-IN" dirty="0"/>
              <a:t>Author </a:t>
            </a:r>
          </a:p>
          <a:p>
            <a:pPr lvl="1"/>
            <a:r>
              <a:rPr lang="en-IN" dirty="0"/>
              <a:t>Librarian </a:t>
            </a:r>
          </a:p>
          <a:p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70E9F2-F25F-2002-56FB-0CEC4BCCEE6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2)Attribute</a:t>
            </a:r>
          </a:p>
          <a:p>
            <a:pPr lvl="1"/>
            <a:r>
              <a:rPr lang="en-IN" dirty="0"/>
              <a:t>Describes the properties of an entity. </a:t>
            </a:r>
          </a:p>
          <a:p>
            <a:pPr lvl="1"/>
            <a:r>
              <a:rPr lang="en-IN" dirty="0"/>
              <a:t>Shown using an Oval. </a:t>
            </a:r>
          </a:p>
          <a:p>
            <a:pPr marL="0" indent="0">
              <a:buNone/>
            </a:pPr>
            <a:r>
              <a:rPr lang="en-IN" dirty="0"/>
              <a:t>Examples: </a:t>
            </a:r>
          </a:p>
          <a:p>
            <a:pPr lvl="2"/>
            <a:r>
              <a:rPr lang="en-IN" dirty="0"/>
              <a:t>Book ID </a:t>
            </a:r>
          </a:p>
          <a:p>
            <a:pPr lvl="2"/>
            <a:r>
              <a:rPr lang="en-IN" dirty="0"/>
              <a:t>Title </a:t>
            </a:r>
          </a:p>
          <a:p>
            <a:pPr lvl="2"/>
            <a:r>
              <a:rPr lang="en-IN" dirty="0"/>
              <a:t>Member Name </a:t>
            </a:r>
          </a:p>
          <a:p>
            <a:pPr lvl="2"/>
            <a:r>
              <a:rPr lang="en-IN" dirty="0"/>
              <a:t>Email </a:t>
            </a:r>
          </a:p>
          <a:p>
            <a:endParaRPr lang="en-IN" dirty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D812560C-7579-C964-01E9-F3801ACBE542}"/>
              </a:ext>
            </a:extLst>
          </p:cNvPr>
          <p:cNvSpPr/>
          <p:nvPr/>
        </p:nvSpPr>
        <p:spPr>
          <a:xfrm>
            <a:off x="9765792" y="599539"/>
            <a:ext cx="1225296" cy="836867"/>
          </a:xfrm>
          <a:custGeom>
            <a:avLst/>
            <a:gdLst/>
            <a:ahLst/>
            <a:cxnLst/>
            <a:rect l="l" t="t" r="r" b="b"/>
            <a:pathLst>
              <a:path w="1938300" h="1928257">
                <a:moveTo>
                  <a:pt x="0" y="0"/>
                </a:moveTo>
                <a:lnTo>
                  <a:pt x="1938300" y="0"/>
                </a:lnTo>
                <a:lnTo>
                  <a:pt x="1938300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00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4">
            <a:extLst>
              <a:ext uri="{FF2B5EF4-FFF2-40B4-BE49-F238E27FC236}">
                <a16:creationId xmlns:a16="http://schemas.microsoft.com/office/drawing/2014/main" id="{C846435D-835C-DBB8-F89E-BC6605C909A5}"/>
              </a:ext>
            </a:extLst>
          </p:cNvPr>
          <p:cNvSpPr/>
          <p:nvPr/>
        </p:nvSpPr>
        <p:spPr>
          <a:xfrm>
            <a:off x="765578" y="599540"/>
            <a:ext cx="1026646" cy="836867"/>
          </a:xfrm>
          <a:custGeom>
            <a:avLst/>
            <a:gdLst/>
            <a:ahLst/>
            <a:cxnLst/>
            <a:rect l="l" t="t" r="r" b="b"/>
            <a:pathLst>
              <a:path w="1520483" h="1928257">
                <a:moveTo>
                  <a:pt x="0" y="0"/>
                </a:moveTo>
                <a:lnTo>
                  <a:pt x="1520482" y="0"/>
                </a:lnTo>
                <a:lnTo>
                  <a:pt x="1520482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8740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E8710-9B2C-4FBE-7A1C-9AF840693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               ER Diagram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4420DEC0-25D4-4853-F91C-489533EE6A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69770" y="1690688"/>
            <a:ext cx="6482937" cy="4566104"/>
          </a:xfrm>
          <a:prstGeom prst="rect">
            <a:avLst/>
          </a:prstGeom>
        </p:spPr>
      </p:pic>
      <p:sp>
        <p:nvSpPr>
          <p:cNvPr id="4" name="Freeform 3">
            <a:extLst>
              <a:ext uri="{FF2B5EF4-FFF2-40B4-BE49-F238E27FC236}">
                <a16:creationId xmlns:a16="http://schemas.microsoft.com/office/drawing/2014/main" id="{0AA57E9B-1BAB-0BF0-5A3C-E96FFE613AB5}"/>
              </a:ext>
            </a:extLst>
          </p:cNvPr>
          <p:cNvSpPr/>
          <p:nvPr/>
        </p:nvSpPr>
        <p:spPr>
          <a:xfrm>
            <a:off x="10076688" y="365125"/>
            <a:ext cx="1277112" cy="986029"/>
          </a:xfrm>
          <a:custGeom>
            <a:avLst/>
            <a:gdLst/>
            <a:ahLst/>
            <a:cxnLst/>
            <a:rect l="l" t="t" r="r" b="b"/>
            <a:pathLst>
              <a:path w="1938300" h="1928257">
                <a:moveTo>
                  <a:pt x="0" y="0"/>
                </a:moveTo>
                <a:lnTo>
                  <a:pt x="1938300" y="0"/>
                </a:lnTo>
                <a:lnTo>
                  <a:pt x="1938300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00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4">
            <a:extLst>
              <a:ext uri="{FF2B5EF4-FFF2-40B4-BE49-F238E27FC236}">
                <a16:creationId xmlns:a16="http://schemas.microsoft.com/office/drawing/2014/main" id="{75236866-AAB9-E12B-F939-98BB761B9696}"/>
              </a:ext>
            </a:extLst>
          </p:cNvPr>
          <p:cNvSpPr/>
          <p:nvPr/>
        </p:nvSpPr>
        <p:spPr>
          <a:xfrm>
            <a:off x="399818" y="585216"/>
            <a:ext cx="1182094" cy="851192"/>
          </a:xfrm>
          <a:custGeom>
            <a:avLst/>
            <a:gdLst/>
            <a:ahLst/>
            <a:cxnLst/>
            <a:rect l="l" t="t" r="r" b="b"/>
            <a:pathLst>
              <a:path w="1520483" h="1928257">
                <a:moveTo>
                  <a:pt x="0" y="0"/>
                </a:moveTo>
                <a:lnTo>
                  <a:pt x="1520482" y="0"/>
                </a:lnTo>
                <a:lnTo>
                  <a:pt x="1520482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6241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B9FB9B2-6A15-9EC0-5364-2F117AE72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          Advantages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40296CC-3CD6-4FA0-8CFC-94116E28BF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4871" y="1877785"/>
            <a:ext cx="6901543" cy="4070577"/>
          </a:xfrm>
        </p:spPr>
        <p:txBody>
          <a:bodyPr>
            <a:normAutofit/>
          </a:bodyPr>
          <a:lstStyle/>
          <a:p>
            <a:pPr lvl="1"/>
            <a:r>
              <a:rPr lang="en-IN" sz="3600" dirty="0"/>
              <a:t>   Easy database design</a:t>
            </a:r>
          </a:p>
          <a:p>
            <a:pPr lvl="1"/>
            <a:r>
              <a:rPr lang="en-IN" sz="3600" dirty="0"/>
              <a:t>   Shows relationships clearly</a:t>
            </a:r>
          </a:p>
          <a:p>
            <a:pPr lvl="1"/>
            <a:r>
              <a:rPr lang="en-IN" sz="3600" dirty="0"/>
              <a:t>   Reduces data redundancy </a:t>
            </a:r>
          </a:p>
          <a:p>
            <a:pPr lvl="1"/>
            <a:r>
              <a:rPr lang="en-IN" sz="3600" dirty="0"/>
              <a:t>  Improves data management </a:t>
            </a:r>
          </a:p>
          <a:p>
            <a:pPr lvl="1"/>
            <a:r>
              <a:rPr lang="en-IN" sz="3600" dirty="0"/>
              <a:t>   Easy maintenance.</a:t>
            </a:r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C6A59A12-D95D-29C8-D819-22D1DED357ED}"/>
              </a:ext>
            </a:extLst>
          </p:cNvPr>
          <p:cNvSpPr/>
          <p:nvPr/>
        </p:nvSpPr>
        <p:spPr>
          <a:xfrm>
            <a:off x="9640824" y="658368"/>
            <a:ext cx="1322832" cy="912877"/>
          </a:xfrm>
          <a:custGeom>
            <a:avLst/>
            <a:gdLst/>
            <a:ahLst/>
            <a:cxnLst/>
            <a:rect l="l" t="t" r="r" b="b"/>
            <a:pathLst>
              <a:path w="1938300" h="1928257">
                <a:moveTo>
                  <a:pt x="0" y="0"/>
                </a:moveTo>
                <a:lnTo>
                  <a:pt x="1938300" y="0"/>
                </a:lnTo>
                <a:lnTo>
                  <a:pt x="1938300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00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DA6C05FF-BA6A-9398-A617-F87B93D8178E}"/>
              </a:ext>
            </a:extLst>
          </p:cNvPr>
          <p:cNvSpPr/>
          <p:nvPr/>
        </p:nvSpPr>
        <p:spPr>
          <a:xfrm>
            <a:off x="536978" y="576072"/>
            <a:ext cx="1154662" cy="998950"/>
          </a:xfrm>
          <a:custGeom>
            <a:avLst/>
            <a:gdLst/>
            <a:ahLst/>
            <a:cxnLst/>
            <a:rect l="l" t="t" r="r" b="b"/>
            <a:pathLst>
              <a:path w="1520483" h="1928257">
                <a:moveTo>
                  <a:pt x="0" y="0"/>
                </a:moveTo>
                <a:lnTo>
                  <a:pt x="1520482" y="0"/>
                </a:lnTo>
                <a:lnTo>
                  <a:pt x="1520482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9106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2D0AF-D8E8-41BE-F585-D96BB058A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    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600D54-D9B1-8184-515B-8195B7CC06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9314" y="1690688"/>
            <a:ext cx="9252857" cy="4348163"/>
          </a:xfrm>
        </p:spPr>
        <p:txBody>
          <a:bodyPr>
            <a:normAutofit/>
          </a:bodyPr>
          <a:lstStyle/>
          <a:p>
            <a:r>
              <a:rPr lang="en-IN" sz="3600" dirty="0"/>
              <a:t>ER diagrams provide a clear structure of the database.</a:t>
            </a:r>
          </a:p>
          <a:p>
            <a:r>
              <a:rPr lang="en-IN" sz="3600" dirty="0"/>
              <a:t> They identify entities, attributes, and relationships. </a:t>
            </a:r>
          </a:p>
          <a:p>
            <a:r>
              <a:rPr lang="en-IN" sz="3600" dirty="0"/>
              <a:t>An Online Library ER diagram helps manage books, members, authors, and borrowing efficiently.</a:t>
            </a:r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87B57E65-7D2F-71BB-2C29-DD8734F39BCC}"/>
              </a:ext>
            </a:extLst>
          </p:cNvPr>
          <p:cNvSpPr/>
          <p:nvPr/>
        </p:nvSpPr>
        <p:spPr>
          <a:xfrm>
            <a:off x="9832848" y="493776"/>
            <a:ext cx="1377696" cy="1022605"/>
          </a:xfrm>
          <a:custGeom>
            <a:avLst/>
            <a:gdLst/>
            <a:ahLst/>
            <a:cxnLst/>
            <a:rect l="l" t="t" r="r" b="b"/>
            <a:pathLst>
              <a:path w="1938300" h="1928257">
                <a:moveTo>
                  <a:pt x="0" y="0"/>
                </a:moveTo>
                <a:lnTo>
                  <a:pt x="1938300" y="0"/>
                </a:lnTo>
                <a:lnTo>
                  <a:pt x="1938300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00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4">
            <a:extLst>
              <a:ext uri="{FF2B5EF4-FFF2-40B4-BE49-F238E27FC236}">
                <a16:creationId xmlns:a16="http://schemas.microsoft.com/office/drawing/2014/main" id="{68841547-2A3C-8213-8BC9-4450D329836D}"/>
              </a:ext>
            </a:extLst>
          </p:cNvPr>
          <p:cNvSpPr/>
          <p:nvPr/>
        </p:nvSpPr>
        <p:spPr>
          <a:xfrm>
            <a:off x="588018" y="413803"/>
            <a:ext cx="1189496" cy="1022606"/>
          </a:xfrm>
          <a:custGeom>
            <a:avLst/>
            <a:gdLst/>
            <a:ahLst/>
            <a:cxnLst/>
            <a:rect l="l" t="t" r="r" b="b"/>
            <a:pathLst>
              <a:path w="1520483" h="1928257">
                <a:moveTo>
                  <a:pt x="0" y="0"/>
                </a:moveTo>
                <a:lnTo>
                  <a:pt x="1520482" y="0"/>
                </a:lnTo>
                <a:lnTo>
                  <a:pt x="1520482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9440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6661C-20DD-87AE-391F-3967364BF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" y="1877786"/>
            <a:ext cx="10515600" cy="825274"/>
          </a:xfrm>
        </p:spPr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B2D3A0-7BA2-86D1-3CF3-286B6CDE45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3900" y="2939142"/>
            <a:ext cx="10515600" cy="3391467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Extended Entity-Relationship (EER) Model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is an advanced version of the ER model.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 It is used to design complex databases.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 The EER model includes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Generalization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Specialization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In a University system,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Person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is divided into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Student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Faculty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and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Staff</a:t>
            </a:r>
            <a:endParaRPr lang="en-IN" b="1" dirty="0"/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9CA44E-C97C-314A-CB5A-5D428443EF05}"/>
              </a:ext>
            </a:extLst>
          </p:cNvPr>
          <p:cNvSpPr txBox="1"/>
          <p:nvPr/>
        </p:nvSpPr>
        <p:spPr>
          <a:xfrm>
            <a:off x="1758723" y="634536"/>
            <a:ext cx="867455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dirty="0"/>
              <a:t>Q2)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Prepare a presentation on the EER model, demonstrating generalization and specialization with a University case study</a:t>
            </a:r>
            <a:r>
              <a:rPr lang="en-US" sz="3200" dirty="0"/>
              <a:t>. </a:t>
            </a:r>
            <a:endParaRPr lang="en-IN" sz="3200" dirty="0"/>
          </a:p>
        </p:txBody>
      </p:sp>
      <p:sp>
        <p:nvSpPr>
          <p:cNvPr id="6" name="Freeform 3">
            <a:extLst>
              <a:ext uri="{FF2B5EF4-FFF2-40B4-BE49-F238E27FC236}">
                <a16:creationId xmlns:a16="http://schemas.microsoft.com/office/drawing/2014/main" id="{039DACCC-987E-CCDA-55EB-373C105D1DFA}"/>
              </a:ext>
            </a:extLst>
          </p:cNvPr>
          <p:cNvSpPr/>
          <p:nvPr/>
        </p:nvSpPr>
        <p:spPr>
          <a:xfrm>
            <a:off x="10516905" y="745971"/>
            <a:ext cx="1267968" cy="894589"/>
          </a:xfrm>
          <a:custGeom>
            <a:avLst/>
            <a:gdLst/>
            <a:ahLst/>
            <a:cxnLst/>
            <a:rect l="l" t="t" r="r" b="b"/>
            <a:pathLst>
              <a:path w="1938300" h="1928257">
                <a:moveTo>
                  <a:pt x="0" y="0"/>
                </a:moveTo>
                <a:lnTo>
                  <a:pt x="1938300" y="0"/>
                </a:lnTo>
                <a:lnTo>
                  <a:pt x="1938300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00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4">
            <a:extLst>
              <a:ext uri="{FF2B5EF4-FFF2-40B4-BE49-F238E27FC236}">
                <a16:creationId xmlns:a16="http://schemas.microsoft.com/office/drawing/2014/main" id="{6D25070F-6FA1-DECF-E539-D8511030BABD}"/>
              </a:ext>
            </a:extLst>
          </p:cNvPr>
          <p:cNvSpPr/>
          <p:nvPr/>
        </p:nvSpPr>
        <p:spPr>
          <a:xfrm>
            <a:off x="407127" y="708311"/>
            <a:ext cx="1019337" cy="894590"/>
          </a:xfrm>
          <a:custGeom>
            <a:avLst/>
            <a:gdLst/>
            <a:ahLst/>
            <a:cxnLst/>
            <a:rect l="l" t="t" r="r" b="b"/>
            <a:pathLst>
              <a:path w="1520483" h="1928257">
                <a:moveTo>
                  <a:pt x="0" y="0"/>
                </a:moveTo>
                <a:lnTo>
                  <a:pt x="1520482" y="0"/>
                </a:lnTo>
                <a:lnTo>
                  <a:pt x="1520482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9901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4CEC0-D794-46AE-0FB4-DCBAC2A13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       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22EA61-F053-F522-9083-78E6B28450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5747" y="1980490"/>
            <a:ext cx="5510253" cy="4351793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12800" b="1" dirty="0">
                <a:latin typeface="Times New Roman" pitchFamily="18" charset="0"/>
                <a:cs typeface="Times New Roman" pitchFamily="18" charset="0"/>
              </a:rPr>
              <a:t>Superclass</a:t>
            </a:r>
          </a:p>
          <a:p>
            <a:pPr lvl="2">
              <a:lnSpc>
                <a:spcPct val="120000"/>
              </a:lnSpc>
            </a:pPr>
            <a:r>
              <a:rPr lang="en-US" sz="7200" dirty="0">
                <a:latin typeface="Times New Roman" pitchFamily="18" charset="0"/>
                <a:cs typeface="Times New Roman" pitchFamily="18" charset="0"/>
              </a:rPr>
              <a:t>Person :-Common entity that stores shared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8000" dirty="0">
                <a:latin typeface="Times New Roman" pitchFamily="18" charset="0"/>
                <a:cs typeface="Times New Roman" pitchFamily="18" charset="0"/>
              </a:rPr>
              <a:t>information</a:t>
            </a:r>
            <a:r>
              <a:rPr lang="en-US" sz="8000" dirty="0"/>
              <a:t>. </a:t>
            </a:r>
            <a:endParaRPr lang="en-US" sz="7200" dirty="0"/>
          </a:p>
          <a:p>
            <a:pPr marL="0" indent="0">
              <a:buNone/>
            </a:pPr>
            <a:r>
              <a:rPr lang="en-US" sz="12800" b="1" dirty="0">
                <a:latin typeface="Times New Roman" pitchFamily="18" charset="0"/>
                <a:cs typeface="Times New Roman" pitchFamily="18" charset="0"/>
              </a:rPr>
              <a:t>Subclasses</a:t>
            </a:r>
          </a:p>
          <a:p>
            <a:pPr marL="0" indent="0">
              <a:buNone/>
            </a:pPr>
            <a:endParaRPr lang="en-US" sz="12800" b="1" dirty="0">
              <a:latin typeface="Times New Roman" pitchFamily="18" charset="0"/>
              <a:cs typeface="Times New Roman" pitchFamily="18" charset="0"/>
            </a:endParaRPr>
          </a:p>
          <a:p>
            <a:pPr lvl="2"/>
            <a:r>
              <a:rPr lang="en-US" sz="8000" dirty="0">
                <a:latin typeface="Times New Roman" pitchFamily="18" charset="0"/>
                <a:cs typeface="Times New Roman" pitchFamily="18" charset="0"/>
              </a:rPr>
              <a:t>Student – Stores student details. </a:t>
            </a:r>
          </a:p>
          <a:p>
            <a:pPr lvl="2"/>
            <a:r>
              <a:rPr lang="en-US" sz="8000" dirty="0">
                <a:latin typeface="Times New Roman" pitchFamily="18" charset="0"/>
                <a:cs typeface="Times New Roman" pitchFamily="18" charset="0"/>
              </a:rPr>
              <a:t>Faculty – Stores faculty details. </a:t>
            </a:r>
          </a:p>
          <a:p>
            <a:pPr lvl="2"/>
            <a:r>
              <a:rPr lang="en-US" sz="8000" dirty="0">
                <a:latin typeface="Times New Roman" pitchFamily="18" charset="0"/>
                <a:cs typeface="Times New Roman" pitchFamily="18" charset="0"/>
              </a:rPr>
              <a:t>Staff – Stores staff details.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D6A0AC-BCEE-9C66-9545-3B107BBE59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1" y="1690688"/>
            <a:ext cx="5181599" cy="4223258"/>
          </a:xfrm>
        </p:spPr>
        <p:txBody>
          <a:bodyPr>
            <a:normAutofit fontScale="25000" lnSpcReduction="200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US" sz="11200" b="1" dirty="0">
                <a:latin typeface="Times New Roman" pitchFamily="18" charset="0"/>
                <a:cs typeface="Times New Roman" pitchFamily="18" charset="0"/>
              </a:rPr>
              <a:t>Generalization</a:t>
            </a:r>
          </a:p>
          <a:p>
            <a:pPr>
              <a:lnSpc>
                <a:spcPct val="170000"/>
              </a:lnSpc>
            </a:pPr>
            <a:r>
              <a:rPr lang="en-US" sz="8000" dirty="0">
                <a:latin typeface="Times New Roman" pitchFamily="18" charset="0"/>
                <a:cs typeface="Times New Roman" pitchFamily="18" charset="0"/>
              </a:rPr>
              <a:t>Combines similar entities into one </a:t>
            </a:r>
            <a:r>
              <a:rPr lang="en-US" sz="8000" b="1" dirty="0">
                <a:latin typeface="Times New Roman" pitchFamily="18" charset="0"/>
                <a:cs typeface="Times New Roman" pitchFamily="18" charset="0"/>
              </a:rPr>
              <a:t>Superclass (Person)</a:t>
            </a:r>
            <a:r>
              <a:rPr lang="en-US" sz="8000" dirty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sz="11200" b="1" dirty="0">
                <a:latin typeface="Times New Roman" pitchFamily="18" charset="0"/>
                <a:cs typeface="Times New Roman" pitchFamily="18" charset="0"/>
              </a:rPr>
              <a:t>Specialization</a:t>
            </a:r>
          </a:p>
          <a:p>
            <a:pPr>
              <a:lnSpc>
                <a:spcPct val="170000"/>
              </a:lnSpc>
            </a:pPr>
            <a:r>
              <a:rPr lang="en-US" sz="8000" dirty="0">
                <a:latin typeface="Times New Roman" pitchFamily="18" charset="0"/>
                <a:cs typeface="Times New Roman" pitchFamily="18" charset="0"/>
              </a:rPr>
              <a:t>Divides </a:t>
            </a:r>
            <a:r>
              <a:rPr lang="en-US" sz="8000" b="1" dirty="0">
                <a:latin typeface="Times New Roman" pitchFamily="18" charset="0"/>
                <a:cs typeface="Times New Roman" pitchFamily="18" charset="0"/>
              </a:rPr>
              <a:t>Person</a:t>
            </a:r>
            <a:r>
              <a:rPr lang="en-US" sz="8000" dirty="0">
                <a:latin typeface="Times New Roman" pitchFamily="18" charset="0"/>
                <a:cs typeface="Times New Roman" pitchFamily="18" charset="0"/>
              </a:rPr>
              <a:t> into </a:t>
            </a:r>
            <a:r>
              <a:rPr lang="en-US" sz="8000" b="1" dirty="0">
                <a:latin typeface="Times New Roman" pitchFamily="18" charset="0"/>
                <a:cs typeface="Times New Roman" pitchFamily="18" charset="0"/>
              </a:rPr>
              <a:t>Student</a:t>
            </a:r>
            <a:r>
              <a:rPr lang="en-US" sz="80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8000" b="1" dirty="0">
                <a:latin typeface="Times New Roman" pitchFamily="18" charset="0"/>
                <a:cs typeface="Times New Roman" pitchFamily="18" charset="0"/>
              </a:rPr>
              <a:t>Faculty</a:t>
            </a:r>
            <a:r>
              <a:rPr lang="en-US" sz="8000" dirty="0">
                <a:latin typeface="Times New Roman" pitchFamily="18" charset="0"/>
                <a:cs typeface="Times New Roman" pitchFamily="18" charset="0"/>
              </a:rPr>
              <a:t>, and </a:t>
            </a:r>
            <a:r>
              <a:rPr lang="en-US" sz="8000" b="1" dirty="0">
                <a:latin typeface="Times New Roman" pitchFamily="18" charset="0"/>
                <a:cs typeface="Times New Roman" pitchFamily="18" charset="0"/>
              </a:rPr>
              <a:t>Staff</a:t>
            </a:r>
            <a:r>
              <a:rPr lang="en-US" sz="8000" dirty="0">
                <a:latin typeface="Times New Roman" pitchFamily="18" charset="0"/>
                <a:cs typeface="Times New Roman" pitchFamily="18" charset="0"/>
              </a:rPr>
              <a:t> based on their roles. </a:t>
            </a:r>
          </a:p>
          <a:p>
            <a:endParaRPr lang="en-IN" dirty="0"/>
          </a:p>
        </p:txBody>
      </p:sp>
      <p:sp>
        <p:nvSpPr>
          <p:cNvPr id="6" name="Freeform 3">
            <a:extLst>
              <a:ext uri="{FF2B5EF4-FFF2-40B4-BE49-F238E27FC236}">
                <a16:creationId xmlns:a16="http://schemas.microsoft.com/office/drawing/2014/main" id="{AADFF8AA-7482-2CD0-61F9-65BF2F268520}"/>
              </a:ext>
            </a:extLst>
          </p:cNvPr>
          <p:cNvSpPr/>
          <p:nvPr/>
        </p:nvSpPr>
        <p:spPr>
          <a:xfrm>
            <a:off x="9640824" y="612648"/>
            <a:ext cx="1286256" cy="958597"/>
          </a:xfrm>
          <a:custGeom>
            <a:avLst/>
            <a:gdLst/>
            <a:ahLst/>
            <a:cxnLst/>
            <a:rect l="l" t="t" r="r" b="b"/>
            <a:pathLst>
              <a:path w="1938300" h="1928257">
                <a:moveTo>
                  <a:pt x="0" y="0"/>
                </a:moveTo>
                <a:lnTo>
                  <a:pt x="1938300" y="0"/>
                </a:lnTo>
                <a:lnTo>
                  <a:pt x="1938300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00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4">
            <a:extLst>
              <a:ext uri="{FF2B5EF4-FFF2-40B4-BE49-F238E27FC236}">
                <a16:creationId xmlns:a16="http://schemas.microsoft.com/office/drawing/2014/main" id="{78BC4568-45A7-0579-11EA-5173DADB44E3}"/>
              </a:ext>
            </a:extLst>
          </p:cNvPr>
          <p:cNvSpPr/>
          <p:nvPr/>
        </p:nvSpPr>
        <p:spPr>
          <a:xfrm>
            <a:off x="509546" y="612648"/>
            <a:ext cx="1200382" cy="962374"/>
          </a:xfrm>
          <a:custGeom>
            <a:avLst/>
            <a:gdLst/>
            <a:ahLst/>
            <a:cxnLst/>
            <a:rect l="l" t="t" r="r" b="b"/>
            <a:pathLst>
              <a:path w="1520483" h="1928257">
                <a:moveTo>
                  <a:pt x="0" y="0"/>
                </a:moveTo>
                <a:lnTo>
                  <a:pt x="1520482" y="0"/>
                </a:lnTo>
                <a:lnTo>
                  <a:pt x="1520482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2600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22D47-31D4-5066-3A10-B924520C6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           ER Diagram</a:t>
            </a: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927B6713-E5C7-66EA-8ABC-F53795E17D47}"/>
              </a:ext>
            </a:extLst>
          </p:cNvPr>
          <p:cNvSpPr/>
          <p:nvPr/>
        </p:nvSpPr>
        <p:spPr>
          <a:xfrm>
            <a:off x="9860280" y="612648"/>
            <a:ext cx="1304544" cy="931165"/>
          </a:xfrm>
          <a:custGeom>
            <a:avLst/>
            <a:gdLst/>
            <a:ahLst/>
            <a:cxnLst/>
            <a:rect l="l" t="t" r="r" b="b"/>
            <a:pathLst>
              <a:path w="1938300" h="1928257">
                <a:moveTo>
                  <a:pt x="0" y="0"/>
                </a:moveTo>
                <a:lnTo>
                  <a:pt x="1938300" y="0"/>
                </a:lnTo>
                <a:lnTo>
                  <a:pt x="1938300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00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4">
            <a:extLst>
              <a:ext uri="{FF2B5EF4-FFF2-40B4-BE49-F238E27FC236}">
                <a16:creationId xmlns:a16="http://schemas.microsoft.com/office/drawing/2014/main" id="{59240CA1-C7EF-D82D-6092-BC6D2096388F}"/>
              </a:ext>
            </a:extLst>
          </p:cNvPr>
          <p:cNvSpPr/>
          <p:nvPr/>
        </p:nvSpPr>
        <p:spPr>
          <a:xfrm>
            <a:off x="402492" y="531114"/>
            <a:ext cx="1249368" cy="1094232"/>
          </a:xfrm>
          <a:custGeom>
            <a:avLst/>
            <a:gdLst/>
            <a:ahLst/>
            <a:cxnLst/>
            <a:rect l="l" t="t" r="r" b="b"/>
            <a:pathLst>
              <a:path w="1520483" h="1928257">
                <a:moveTo>
                  <a:pt x="0" y="0"/>
                </a:moveTo>
                <a:lnTo>
                  <a:pt x="1520482" y="0"/>
                </a:lnTo>
                <a:lnTo>
                  <a:pt x="1520482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76062E65-3458-8D39-F645-EEC5A9B9E3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900990"/>
            <a:ext cx="6400800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403107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00F9071-B151-AF91-2B85-D2D9E373D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          Advantages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2CD203-814A-79A7-E9AD-D728C264C9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07772" y="1886517"/>
            <a:ext cx="6934200" cy="3744006"/>
          </a:xfrm>
        </p:spPr>
        <p:txBody>
          <a:bodyPr/>
          <a:lstStyle/>
          <a:p>
            <a:r>
              <a:rPr lang="en-IN" dirty="0"/>
              <a:t>Maintains patient records. </a:t>
            </a:r>
          </a:p>
          <a:p>
            <a:r>
              <a:rPr lang="en-IN" dirty="0"/>
              <a:t>Reduces paperwork. </a:t>
            </a:r>
          </a:p>
          <a:p>
            <a:r>
              <a:rPr lang="en-IN" dirty="0"/>
              <a:t>Improves appointment scheduling. </a:t>
            </a:r>
          </a:p>
          <a:p>
            <a:r>
              <a:rPr lang="en-IN" dirty="0"/>
              <a:t>Enhances data security. </a:t>
            </a:r>
          </a:p>
          <a:p>
            <a:r>
              <a:rPr lang="en-IN" dirty="0"/>
              <a:t>Enables quick access to medical information.</a:t>
            </a:r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5E2FB771-9BDF-FA49-B97E-B1BD29D576AA}"/>
              </a:ext>
            </a:extLst>
          </p:cNvPr>
          <p:cNvSpPr/>
          <p:nvPr/>
        </p:nvSpPr>
        <p:spPr>
          <a:xfrm>
            <a:off x="9640824" y="612648"/>
            <a:ext cx="1331976" cy="958597"/>
          </a:xfrm>
          <a:custGeom>
            <a:avLst/>
            <a:gdLst/>
            <a:ahLst/>
            <a:cxnLst/>
            <a:rect l="l" t="t" r="r" b="b"/>
            <a:pathLst>
              <a:path w="1938300" h="1928257">
                <a:moveTo>
                  <a:pt x="0" y="0"/>
                </a:moveTo>
                <a:lnTo>
                  <a:pt x="1938300" y="0"/>
                </a:lnTo>
                <a:lnTo>
                  <a:pt x="1938300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00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4">
            <a:extLst>
              <a:ext uri="{FF2B5EF4-FFF2-40B4-BE49-F238E27FC236}">
                <a16:creationId xmlns:a16="http://schemas.microsoft.com/office/drawing/2014/main" id="{588F68E7-28C2-5940-6879-AB3D9C2C8EC9}"/>
              </a:ext>
            </a:extLst>
          </p:cNvPr>
          <p:cNvSpPr/>
          <p:nvPr/>
        </p:nvSpPr>
        <p:spPr>
          <a:xfrm>
            <a:off x="564410" y="499962"/>
            <a:ext cx="1108942" cy="1071283"/>
          </a:xfrm>
          <a:custGeom>
            <a:avLst/>
            <a:gdLst/>
            <a:ahLst/>
            <a:cxnLst/>
            <a:rect l="l" t="t" r="r" b="b"/>
            <a:pathLst>
              <a:path w="1520483" h="1928257">
                <a:moveTo>
                  <a:pt x="0" y="0"/>
                </a:moveTo>
                <a:lnTo>
                  <a:pt x="1520482" y="0"/>
                </a:lnTo>
                <a:lnTo>
                  <a:pt x="1520482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8747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CF3F8-05B5-6F93-90CD-9058FA283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7072" y="245682"/>
            <a:ext cx="10515600" cy="1325563"/>
          </a:xfrm>
        </p:spPr>
        <p:txBody>
          <a:bodyPr/>
          <a:lstStyle/>
          <a:p>
            <a:r>
              <a:rPr lang="en-IN" dirty="0"/>
              <a:t>                                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2A17D0-70ED-97FD-116A-21BBDCB1C8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EER Model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is an advanced version of the ER model. 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It uses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Generalization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Specialization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to organize data efficiently. 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It reduces data redundancy and improves database structure. 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In the University case study,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Person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is divided into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Student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Faculty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and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Staff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Overall, the EER model helps create a simple, efficient, and well-organized database.</a:t>
            </a:r>
            <a:endParaRPr lang="en-IN" dirty="0"/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A2A15BAD-D448-058E-EC16-4F47F0DD3A0B}"/>
              </a:ext>
            </a:extLst>
          </p:cNvPr>
          <p:cNvSpPr/>
          <p:nvPr/>
        </p:nvSpPr>
        <p:spPr>
          <a:xfrm>
            <a:off x="9531096" y="463359"/>
            <a:ext cx="1277112" cy="890208"/>
          </a:xfrm>
          <a:custGeom>
            <a:avLst/>
            <a:gdLst/>
            <a:ahLst/>
            <a:cxnLst/>
            <a:rect l="l" t="t" r="r" b="b"/>
            <a:pathLst>
              <a:path w="1938300" h="1928257">
                <a:moveTo>
                  <a:pt x="0" y="0"/>
                </a:moveTo>
                <a:lnTo>
                  <a:pt x="1938300" y="0"/>
                </a:lnTo>
                <a:lnTo>
                  <a:pt x="1938300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00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4">
            <a:extLst>
              <a:ext uri="{FF2B5EF4-FFF2-40B4-BE49-F238E27FC236}">
                <a16:creationId xmlns:a16="http://schemas.microsoft.com/office/drawing/2014/main" id="{0AB8076A-E869-54AD-7D2C-CCF01DA55841}"/>
              </a:ext>
            </a:extLst>
          </p:cNvPr>
          <p:cNvSpPr/>
          <p:nvPr/>
        </p:nvSpPr>
        <p:spPr>
          <a:xfrm>
            <a:off x="734568" y="546200"/>
            <a:ext cx="1127230" cy="890208"/>
          </a:xfrm>
          <a:custGeom>
            <a:avLst/>
            <a:gdLst/>
            <a:ahLst/>
            <a:cxnLst/>
            <a:rect l="l" t="t" r="r" b="b"/>
            <a:pathLst>
              <a:path w="1520483" h="1928257">
                <a:moveTo>
                  <a:pt x="0" y="0"/>
                </a:moveTo>
                <a:lnTo>
                  <a:pt x="1520482" y="0"/>
                </a:lnTo>
                <a:lnTo>
                  <a:pt x="1520482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240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1DCE0-2E7F-12C8-3CD7-DA310418D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0458" y="1999569"/>
            <a:ext cx="10515600" cy="825274"/>
          </a:xfrm>
        </p:spPr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5C674B-7EC2-5C08-8B94-2273C001B3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0086" y="2824843"/>
            <a:ext cx="9922328" cy="2878590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Data independence is the ability to change the database structure without affecting application programs. 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It is an important feature of a Database Management System (DBMS). 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There are two types of data independence: Logical and Physical. 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It improves database flexibility, maintenance, and performance. 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58978D-E9A7-5B16-1AE1-F73A275C322B}"/>
              </a:ext>
            </a:extLst>
          </p:cNvPr>
          <p:cNvSpPr txBox="1"/>
          <p:nvPr/>
        </p:nvSpPr>
        <p:spPr>
          <a:xfrm>
            <a:off x="523890" y="246626"/>
            <a:ext cx="1114422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Q3. Present the concept of data independence (logical and physical) and its significance in DBMS architecture</a:t>
            </a:r>
            <a:r>
              <a:rPr lang="en-US" sz="4800" dirty="0">
                <a:latin typeface="Times New Roman" pitchFamily="18" charset="0"/>
                <a:cs typeface="Times New Roman" pitchFamily="18" charset="0"/>
              </a:rPr>
              <a:t>. </a:t>
            </a:r>
            <a:endParaRPr lang="en-US" sz="3200" dirty="0"/>
          </a:p>
          <a:p>
            <a:endParaRPr lang="en-IN" sz="3200" dirty="0"/>
          </a:p>
        </p:txBody>
      </p:sp>
      <p:sp>
        <p:nvSpPr>
          <p:cNvPr id="6" name="Freeform 3">
            <a:extLst>
              <a:ext uri="{FF2B5EF4-FFF2-40B4-BE49-F238E27FC236}">
                <a16:creationId xmlns:a16="http://schemas.microsoft.com/office/drawing/2014/main" id="{8F16FB77-CE3B-1A7E-C0B7-C99ADF53C8B4}"/>
              </a:ext>
            </a:extLst>
          </p:cNvPr>
          <p:cNvSpPr/>
          <p:nvPr/>
        </p:nvSpPr>
        <p:spPr>
          <a:xfrm>
            <a:off x="10876203" y="411960"/>
            <a:ext cx="1315797" cy="825274"/>
          </a:xfrm>
          <a:custGeom>
            <a:avLst/>
            <a:gdLst/>
            <a:ahLst/>
            <a:cxnLst/>
            <a:rect l="l" t="t" r="r" b="b"/>
            <a:pathLst>
              <a:path w="1938300" h="1928257">
                <a:moveTo>
                  <a:pt x="0" y="0"/>
                </a:moveTo>
                <a:lnTo>
                  <a:pt x="1938300" y="0"/>
                </a:lnTo>
                <a:lnTo>
                  <a:pt x="1938300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00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4">
            <a:extLst>
              <a:ext uri="{FF2B5EF4-FFF2-40B4-BE49-F238E27FC236}">
                <a16:creationId xmlns:a16="http://schemas.microsoft.com/office/drawing/2014/main" id="{C46AA339-1FBB-6501-5095-BE6B730592D0}"/>
              </a:ext>
            </a:extLst>
          </p:cNvPr>
          <p:cNvSpPr/>
          <p:nvPr/>
        </p:nvSpPr>
        <p:spPr>
          <a:xfrm>
            <a:off x="77226" y="411960"/>
            <a:ext cx="1047486" cy="825274"/>
          </a:xfrm>
          <a:custGeom>
            <a:avLst/>
            <a:gdLst/>
            <a:ahLst/>
            <a:cxnLst/>
            <a:rect l="l" t="t" r="r" b="b"/>
            <a:pathLst>
              <a:path w="1520483" h="1928257">
                <a:moveTo>
                  <a:pt x="0" y="0"/>
                </a:moveTo>
                <a:lnTo>
                  <a:pt x="1520482" y="0"/>
                </a:lnTo>
                <a:lnTo>
                  <a:pt x="1520482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8628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F69F171-1C1D-5450-2599-9B91B7469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1541" y="704760"/>
            <a:ext cx="10070592" cy="922021"/>
          </a:xfrm>
        </p:spPr>
        <p:txBody>
          <a:bodyPr/>
          <a:lstStyle/>
          <a:p>
            <a:r>
              <a:rPr lang="en-US" sz="4000" dirty="0"/>
              <a:t>Type of data independence</a:t>
            </a:r>
            <a:endParaRPr lang="en-IN" sz="40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9D500DA-EAA8-64A7-90C8-CB9028388C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90862" y="2064045"/>
            <a:ext cx="8549961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Logical Data Independence</a:t>
            </a:r>
          </a:p>
          <a:p>
            <a:pPr marL="1200150" lvl="2" indent="-285750"/>
            <a:r>
              <a:rPr lang="en-US" dirty="0">
                <a:latin typeface="Times New Roman" pitchFamily="18" charset="0"/>
                <a:cs typeface="Times New Roman" pitchFamily="18" charset="0"/>
              </a:rPr>
              <a:t>Ability to change the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logical structure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without affecting user applications. </a:t>
            </a:r>
          </a:p>
          <a:p>
            <a:pPr lvl="2"/>
            <a:r>
              <a:rPr lang="en-US" dirty="0">
                <a:latin typeface="Times New Roman" pitchFamily="18" charset="0"/>
                <a:cs typeface="Times New Roman" pitchFamily="18" charset="0"/>
              </a:rPr>
              <a:t>Example: </a:t>
            </a:r>
          </a:p>
          <a:p>
            <a:pPr marL="1657350" lvl="3" indent="-285750"/>
            <a:r>
              <a:rPr lang="en-US" dirty="0">
                <a:latin typeface="Times New Roman" pitchFamily="18" charset="0"/>
                <a:cs typeface="Times New Roman" pitchFamily="18" charset="0"/>
              </a:rPr>
              <a:t>Adding a new column (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Email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 to the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Student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table. </a:t>
            </a:r>
          </a:p>
          <a:p>
            <a:pPr marL="457200" lvl="1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Physical Data Independence</a:t>
            </a:r>
          </a:p>
          <a:p>
            <a:pPr marL="1200150" lvl="2" indent="-285750"/>
            <a:r>
              <a:rPr lang="en-US" dirty="0">
                <a:latin typeface="Times New Roman" pitchFamily="18" charset="0"/>
                <a:cs typeface="Times New Roman" pitchFamily="18" charset="0"/>
              </a:rPr>
              <a:t>Ability to change the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physical storage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without affecting the logical structure. </a:t>
            </a:r>
          </a:p>
          <a:p>
            <a:pPr lvl="2"/>
            <a:r>
              <a:rPr lang="en-US" dirty="0">
                <a:latin typeface="Times New Roman" pitchFamily="18" charset="0"/>
                <a:cs typeface="Times New Roman" pitchFamily="18" charset="0"/>
              </a:rPr>
              <a:t>Example: </a:t>
            </a:r>
          </a:p>
          <a:p>
            <a:pPr marL="1657350" lvl="3" indent="-285750"/>
            <a:r>
              <a:rPr lang="en-US" dirty="0">
                <a:latin typeface="Times New Roman" pitchFamily="18" charset="0"/>
                <a:cs typeface="Times New Roman" pitchFamily="18" charset="0"/>
              </a:rPr>
              <a:t>Creating an index to improve search speed. </a:t>
            </a:r>
          </a:p>
          <a:p>
            <a:pPr marL="1657350" lvl="3" indent="-285750"/>
            <a:r>
              <a:rPr lang="en-US" dirty="0">
                <a:latin typeface="Times New Roman" pitchFamily="18" charset="0"/>
                <a:cs typeface="Times New Roman" pitchFamily="18" charset="0"/>
              </a:rPr>
              <a:t>Changing file organization or storage device. </a:t>
            </a: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DCE3E9-BF8B-2634-2B6C-94E10F3AC0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38899" y="1027906"/>
            <a:ext cx="5181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sz="9600" b="1" dirty="0"/>
          </a:p>
          <a:p>
            <a:endParaRPr lang="en-IN" dirty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38782C1A-3E70-A95F-1887-9384CDD42160}"/>
              </a:ext>
            </a:extLst>
          </p:cNvPr>
          <p:cNvSpPr/>
          <p:nvPr/>
        </p:nvSpPr>
        <p:spPr>
          <a:xfrm>
            <a:off x="9284208" y="519441"/>
            <a:ext cx="1267968" cy="922021"/>
          </a:xfrm>
          <a:custGeom>
            <a:avLst/>
            <a:gdLst/>
            <a:ahLst/>
            <a:cxnLst/>
            <a:rect l="l" t="t" r="r" b="b"/>
            <a:pathLst>
              <a:path w="1938300" h="1928257">
                <a:moveTo>
                  <a:pt x="0" y="0"/>
                </a:moveTo>
                <a:lnTo>
                  <a:pt x="1938300" y="0"/>
                </a:lnTo>
                <a:lnTo>
                  <a:pt x="1938300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00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4">
            <a:extLst>
              <a:ext uri="{FF2B5EF4-FFF2-40B4-BE49-F238E27FC236}">
                <a16:creationId xmlns:a16="http://schemas.microsoft.com/office/drawing/2014/main" id="{3972053B-9C70-022C-02BD-A9968A9E04C5}"/>
              </a:ext>
            </a:extLst>
          </p:cNvPr>
          <p:cNvSpPr/>
          <p:nvPr/>
        </p:nvSpPr>
        <p:spPr>
          <a:xfrm>
            <a:off x="391669" y="704759"/>
            <a:ext cx="1083563" cy="922021"/>
          </a:xfrm>
          <a:custGeom>
            <a:avLst/>
            <a:gdLst/>
            <a:ahLst/>
            <a:cxnLst/>
            <a:rect l="l" t="t" r="r" b="b"/>
            <a:pathLst>
              <a:path w="1520483" h="1928257">
                <a:moveTo>
                  <a:pt x="0" y="0"/>
                </a:moveTo>
                <a:lnTo>
                  <a:pt x="1520482" y="0"/>
                </a:lnTo>
                <a:lnTo>
                  <a:pt x="1520482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4402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B9DA5-5FC1-C682-C05B-D125E1D91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             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FE348-78A2-423F-7933-1CA6ED316A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92085" y="2057967"/>
            <a:ext cx="8207829" cy="3629706"/>
          </a:xfrm>
        </p:spPr>
        <p:txBody>
          <a:bodyPr/>
          <a:lstStyle/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Reduces maintenance cost. </a:t>
            </a:r>
          </a:p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Improves database security. </a:t>
            </a:r>
          </a:p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Increases flexibility. </a:t>
            </a:r>
          </a:p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Allows easy database updates. </a:t>
            </a:r>
          </a:p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Enhances system performance. </a:t>
            </a:r>
          </a:p>
          <a:p>
            <a:pPr marL="0" indent="0">
              <a:buNone/>
            </a:pPr>
            <a:r>
              <a:rPr lang="en-IN" sz="3200" dirty="0"/>
              <a:t> </a:t>
            </a:r>
          </a:p>
          <a:p>
            <a:endParaRPr lang="en-IN" dirty="0"/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9F323A2F-4C38-5BD3-045A-9F4B83599288}"/>
              </a:ext>
            </a:extLst>
          </p:cNvPr>
          <p:cNvSpPr/>
          <p:nvPr/>
        </p:nvSpPr>
        <p:spPr>
          <a:xfrm>
            <a:off x="9640824" y="685800"/>
            <a:ext cx="1304544" cy="885445"/>
          </a:xfrm>
          <a:custGeom>
            <a:avLst/>
            <a:gdLst/>
            <a:ahLst/>
            <a:cxnLst/>
            <a:rect l="l" t="t" r="r" b="b"/>
            <a:pathLst>
              <a:path w="1938300" h="1928257">
                <a:moveTo>
                  <a:pt x="0" y="0"/>
                </a:moveTo>
                <a:lnTo>
                  <a:pt x="1938300" y="0"/>
                </a:lnTo>
                <a:lnTo>
                  <a:pt x="1938300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00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4">
            <a:extLst>
              <a:ext uri="{FF2B5EF4-FFF2-40B4-BE49-F238E27FC236}">
                <a16:creationId xmlns:a16="http://schemas.microsoft.com/office/drawing/2014/main" id="{73C3B5E0-7AA4-36C1-A3A7-0F0D05417E91}"/>
              </a:ext>
            </a:extLst>
          </p:cNvPr>
          <p:cNvSpPr/>
          <p:nvPr/>
        </p:nvSpPr>
        <p:spPr>
          <a:xfrm>
            <a:off x="399818" y="685800"/>
            <a:ext cx="1249368" cy="1094232"/>
          </a:xfrm>
          <a:custGeom>
            <a:avLst/>
            <a:gdLst/>
            <a:ahLst/>
            <a:cxnLst/>
            <a:rect l="l" t="t" r="r" b="b"/>
            <a:pathLst>
              <a:path w="1520483" h="1928257">
                <a:moveTo>
                  <a:pt x="0" y="0"/>
                </a:moveTo>
                <a:lnTo>
                  <a:pt x="1520482" y="0"/>
                </a:lnTo>
                <a:lnTo>
                  <a:pt x="1520482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2880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DE9AE-DC63-9D09-4D97-F1A662D2A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          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78F0D9-4D42-41CA-463F-2032D7C74C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2579" y="2338973"/>
            <a:ext cx="10515600" cy="4351338"/>
          </a:xfrm>
        </p:spPr>
        <p:txBody>
          <a:bodyPr/>
          <a:lstStyle/>
          <a:p>
            <a:pPr marL="285750" indent="-285750"/>
            <a:r>
              <a:rPr lang="en-US" dirty="0">
                <a:latin typeface="Times New Roman" pitchFamily="18" charset="0"/>
                <a:cs typeface="Times New Roman" pitchFamily="18" charset="0"/>
              </a:rPr>
              <a:t>Data independence is an important feature of DBMS. </a:t>
            </a:r>
          </a:p>
          <a:p>
            <a:pPr marL="285750" indent="-285750"/>
            <a:r>
              <a:rPr lang="en-US" dirty="0">
                <a:latin typeface="Times New Roman" pitchFamily="18" charset="0"/>
                <a:cs typeface="Times New Roman" pitchFamily="18" charset="0"/>
              </a:rPr>
              <a:t>It separates applications from the database structure. </a:t>
            </a:r>
          </a:p>
          <a:p>
            <a:pPr marL="285750" indent="-285750"/>
            <a:r>
              <a:rPr lang="en-US" dirty="0">
                <a:latin typeface="Times New Roman" pitchFamily="18" charset="0"/>
                <a:cs typeface="Times New Roman" pitchFamily="18" charset="0"/>
              </a:rPr>
              <a:t>Logical data independence protects applications from logical changes. </a:t>
            </a:r>
          </a:p>
          <a:p>
            <a:pPr marL="285750" indent="-285750"/>
            <a:r>
              <a:rPr lang="en-US" dirty="0">
                <a:latin typeface="Times New Roman" pitchFamily="18" charset="0"/>
                <a:cs typeface="Times New Roman" pitchFamily="18" charset="0"/>
              </a:rPr>
              <a:t>Overall, it makes the database more flexible, efficient, and easy to maintain. </a:t>
            </a:r>
          </a:p>
          <a:p>
            <a:pPr>
              <a:lnSpc>
                <a:spcPct val="150000"/>
              </a:lnSpc>
            </a:pPr>
            <a:endParaRPr lang="en-IN" dirty="0"/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C4D877B4-38A8-59A6-7DC9-E5D02F78243E}"/>
              </a:ext>
            </a:extLst>
          </p:cNvPr>
          <p:cNvSpPr/>
          <p:nvPr/>
        </p:nvSpPr>
        <p:spPr>
          <a:xfrm>
            <a:off x="9640824" y="681037"/>
            <a:ext cx="1222248" cy="890208"/>
          </a:xfrm>
          <a:custGeom>
            <a:avLst/>
            <a:gdLst/>
            <a:ahLst/>
            <a:cxnLst/>
            <a:rect l="l" t="t" r="r" b="b"/>
            <a:pathLst>
              <a:path w="1938300" h="1928257">
                <a:moveTo>
                  <a:pt x="0" y="0"/>
                </a:moveTo>
                <a:lnTo>
                  <a:pt x="1938300" y="0"/>
                </a:lnTo>
                <a:lnTo>
                  <a:pt x="1938300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00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4">
            <a:extLst>
              <a:ext uri="{FF2B5EF4-FFF2-40B4-BE49-F238E27FC236}">
                <a16:creationId xmlns:a16="http://schemas.microsoft.com/office/drawing/2014/main" id="{1E062284-3BCF-E268-BC7E-FC132923FA56}"/>
              </a:ext>
            </a:extLst>
          </p:cNvPr>
          <p:cNvSpPr/>
          <p:nvPr/>
        </p:nvSpPr>
        <p:spPr>
          <a:xfrm>
            <a:off x="692426" y="546200"/>
            <a:ext cx="1026646" cy="890208"/>
          </a:xfrm>
          <a:custGeom>
            <a:avLst/>
            <a:gdLst/>
            <a:ahLst/>
            <a:cxnLst/>
            <a:rect l="l" t="t" r="r" b="b"/>
            <a:pathLst>
              <a:path w="1520483" h="1928257">
                <a:moveTo>
                  <a:pt x="0" y="0"/>
                </a:moveTo>
                <a:lnTo>
                  <a:pt x="1520482" y="0"/>
                </a:lnTo>
                <a:lnTo>
                  <a:pt x="1520482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73780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AEF67-78D4-DA8D-B954-1B9D3B407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103" y="1970950"/>
            <a:ext cx="10515600" cy="759959"/>
          </a:xfrm>
        </p:spPr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77C29C-F8A3-541C-9250-76AE1647F5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5446" y="2826478"/>
            <a:ext cx="9024257" cy="3319463"/>
          </a:xfrm>
        </p:spPr>
        <p:txBody>
          <a:bodyPr>
            <a:normAutofit/>
          </a:bodyPr>
          <a:lstStyle/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Database Management System (DBMS)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is software used to store, manage, and retrieve data. 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It helps users access data quickly and securely. 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A DBMS consists of different software components that work together. 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The main components are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Query Processor, Storage Manager, and Transaction Manager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>
              <a:lnSpc>
                <a:spcPct val="150000"/>
              </a:lnSpc>
            </a:pP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4F2560-96B1-9DFA-3847-1411FC2B840C}"/>
              </a:ext>
            </a:extLst>
          </p:cNvPr>
          <p:cNvSpPr txBox="1"/>
          <p:nvPr/>
        </p:nvSpPr>
        <p:spPr>
          <a:xfrm>
            <a:off x="1530804" y="454759"/>
            <a:ext cx="936579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/>
              <a:t>Q4)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software components of a DBMS, explaining query processor, storage manager, and transaction manager</a:t>
            </a:r>
            <a:endParaRPr lang="en-IN" sz="3200" dirty="0"/>
          </a:p>
        </p:txBody>
      </p:sp>
      <p:sp>
        <p:nvSpPr>
          <p:cNvPr id="6" name="Freeform 3">
            <a:extLst>
              <a:ext uri="{FF2B5EF4-FFF2-40B4-BE49-F238E27FC236}">
                <a16:creationId xmlns:a16="http://schemas.microsoft.com/office/drawing/2014/main" id="{85369D2B-E82F-A661-1195-D4E40AB17679}"/>
              </a:ext>
            </a:extLst>
          </p:cNvPr>
          <p:cNvSpPr/>
          <p:nvPr/>
        </p:nvSpPr>
        <p:spPr>
          <a:xfrm>
            <a:off x="10591800" y="374904"/>
            <a:ext cx="1304544" cy="1014019"/>
          </a:xfrm>
          <a:custGeom>
            <a:avLst/>
            <a:gdLst/>
            <a:ahLst/>
            <a:cxnLst/>
            <a:rect l="l" t="t" r="r" b="b"/>
            <a:pathLst>
              <a:path w="1938300" h="1928257">
                <a:moveTo>
                  <a:pt x="0" y="0"/>
                </a:moveTo>
                <a:lnTo>
                  <a:pt x="1938300" y="0"/>
                </a:lnTo>
                <a:lnTo>
                  <a:pt x="1938300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00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4">
            <a:extLst>
              <a:ext uri="{FF2B5EF4-FFF2-40B4-BE49-F238E27FC236}">
                <a16:creationId xmlns:a16="http://schemas.microsoft.com/office/drawing/2014/main" id="{01096F40-5321-2E77-28D9-853EF3FB2502}"/>
              </a:ext>
            </a:extLst>
          </p:cNvPr>
          <p:cNvSpPr/>
          <p:nvPr/>
        </p:nvSpPr>
        <p:spPr>
          <a:xfrm>
            <a:off x="399818" y="374904"/>
            <a:ext cx="1035790" cy="1061504"/>
          </a:xfrm>
          <a:custGeom>
            <a:avLst/>
            <a:gdLst/>
            <a:ahLst/>
            <a:cxnLst/>
            <a:rect l="l" t="t" r="r" b="b"/>
            <a:pathLst>
              <a:path w="1520483" h="1928257">
                <a:moveTo>
                  <a:pt x="0" y="0"/>
                </a:moveTo>
                <a:lnTo>
                  <a:pt x="1520482" y="0"/>
                </a:lnTo>
                <a:lnTo>
                  <a:pt x="1520482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5020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D1B32-7F5E-AA57-A20F-0B8D74C3B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            Components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165B58-B0D6-4C5F-8E08-242D38DB4B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9442" y="1825625"/>
            <a:ext cx="518160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Query Processor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Accepts SQL queries from users. 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Checks the query for errors. 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Optimizes the query.</a:t>
            </a:r>
          </a:p>
          <a:p>
            <a:pPr marL="0" indent="0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Transaction Manager</a:t>
            </a:r>
          </a:p>
          <a:p>
            <a:pPr marL="285750" indent="-285750"/>
            <a:r>
              <a:rPr lang="en-US" dirty="0">
                <a:latin typeface="Times New Roman" pitchFamily="18" charset="0"/>
                <a:cs typeface="Times New Roman" pitchFamily="18" charset="0"/>
              </a:rPr>
              <a:t>Controls database transactions. </a:t>
            </a:r>
          </a:p>
          <a:p>
            <a:pPr marL="285750" indent="-285750"/>
            <a:r>
              <a:rPr lang="en-US" dirty="0">
                <a:latin typeface="Times New Roman" pitchFamily="18" charset="0"/>
                <a:cs typeface="Times New Roman" pitchFamily="18" charset="0"/>
              </a:rPr>
              <a:t>Maintains data consistency</a:t>
            </a:r>
          </a:p>
          <a:p>
            <a:pPr marL="285750" indent="-285750"/>
            <a:r>
              <a:rPr lang="en-US" dirty="0">
                <a:latin typeface="Times New Roman" pitchFamily="18" charset="0"/>
                <a:cs typeface="Times New Roman" pitchFamily="18" charset="0"/>
              </a:rPr>
              <a:t>Prevents data loss and inconsistency. </a:t>
            </a:r>
          </a:p>
          <a:p>
            <a:pPr marL="285750" indent="-285750"/>
            <a:r>
              <a:rPr lang="en-US" dirty="0">
                <a:latin typeface="Times New Roman" pitchFamily="18" charset="0"/>
                <a:cs typeface="Times New Roman" pitchFamily="18" charset="0"/>
              </a:rPr>
              <a:t>Handles commit and rollback operations.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2880191-8301-8F4B-7CCB-91D9E06209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60960" y="2506662"/>
            <a:ext cx="518160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Storage Manager</a:t>
            </a:r>
          </a:p>
          <a:p>
            <a:pPr marL="285750" indent="-28575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Manages the storage of data in the database. </a:t>
            </a:r>
          </a:p>
          <a:p>
            <a:pPr marL="285750" indent="-28575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Retrieves data whenever requested. </a:t>
            </a:r>
          </a:p>
          <a:p>
            <a:pPr marL="285750" indent="-28575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Maintains files, indexes, and memory. </a:t>
            </a:r>
          </a:p>
          <a:p>
            <a:pPr marL="285750" indent="-28575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data is stored securely and efficiently. </a:t>
            </a:r>
          </a:p>
          <a:p>
            <a:endParaRPr lang="en-IN" dirty="0"/>
          </a:p>
        </p:txBody>
      </p:sp>
      <p:sp>
        <p:nvSpPr>
          <p:cNvPr id="6" name="Freeform 3">
            <a:extLst>
              <a:ext uri="{FF2B5EF4-FFF2-40B4-BE49-F238E27FC236}">
                <a16:creationId xmlns:a16="http://schemas.microsoft.com/office/drawing/2014/main" id="{C259ED26-FA1F-FA14-75C2-D754DDE17E6E}"/>
              </a:ext>
            </a:extLst>
          </p:cNvPr>
          <p:cNvSpPr/>
          <p:nvPr/>
        </p:nvSpPr>
        <p:spPr>
          <a:xfrm>
            <a:off x="9640824" y="475488"/>
            <a:ext cx="1459992" cy="1095757"/>
          </a:xfrm>
          <a:custGeom>
            <a:avLst/>
            <a:gdLst/>
            <a:ahLst/>
            <a:cxnLst/>
            <a:rect l="l" t="t" r="r" b="b"/>
            <a:pathLst>
              <a:path w="1938300" h="1928257">
                <a:moveTo>
                  <a:pt x="0" y="0"/>
                </a:moveTo>
                <a:lnTo>
                  <a:pt x="1938300" y="0"/>
                </a:lnTo>
                <a:lnTo>
                  <a:pt x="1938300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00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4">
            <a:extLst>
              <a:ext uri="{FF2B5EF4-FFF2-40B4-BE49-F238E27FC236}">
                <a16:creationId xmlns:a16="http://schemas.microsoft.com/office/drawing/2014/main" id="{CFC8AD13-6437-8EB2-AA0E-062DB349D407}"/>
              </a:ext>
            </a:extLst>
          </p:cNvPr>
          <p:cNvSpPr/>
          <p:nvPr/>
        </p:nvSpPr>
        <p:spPr>
          <a:xfrm>
            <a:off x="738146" y="475488"/>
            <a:ext cx="1227814" cy="960920"/>
          </a:xfrm>
          <a:custGeom>
            <a:avLst/>
            <a:gdLst/>
            <a:ahLst/>
            <a:cxnLst/>
            <a:rect l="l" t="t" r="r" b="b"/>
            <a:pathLst>
              <a:path w="1520483" h="1928257">
                <a:moveTo>
                  <a:pt x="0" y="0"/>
                </a:moveTo>
                <a:lnTo>
                  <a:pt x="1520482" y="0"/>
                </a:lnTo>
                <a:lnTo>
                  <a:pt x="1520482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9739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31CA2-D567-F1C3-C052-65573A36A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               Diagram</a:t>
            </a: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1DFE6E32-1F2B-B60B-064E-56C1D56281A9}"/>
              </a:ext>
            </a:extLst>
          </p:cNvPr>
          <p:cNvSpPr/>
          <p:nvPr/>
        </p:nvSpPr>
        <p:spPr>
          <a:xfrm>
            <a:off x="9640824" y="612648"/>
            <a:ext cx="1432560" cy="958597"/>
          </a:xfrm>
          <a:custGeom>
            <a:avLst/>
            <a:gdLst/>
            <a:ahLst/>
            <a:cxnLst/>
            <a:rect l="l" t="t" r="r" b="b"/>
            <a:pathLst>
              <a:path w="1938300" h="1928257">
                <a:moveTo>
                  <a:pt x="0" y="0"/>
                </a:moveTo>
                <a:lnTo>
                  <a:pt x="1938300" y="0"/>
                </a:lnTo>
                <a:lnTo>
                  <a:pt x="1938300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00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4">
            <a:extLst>
              <a:ext uri="{FF2B5EF4-FFF2-40B4-BE49-F238E27FC236}">
                <a16:creationId xmlns:a16="http://schemas.microsoft.com/office/drawing/2014/main" id="{4C794E25-EEE5-FB83-1187-C396CEA6B226}"/>
              </a:ext>
            </a:extLst>
          </p:cNvPr>
          <p:cNvSpPr/>
          <p:nvPr/>
        </p:nvSpPr>
        <p:spPr>
          <a:xfrm>
            <a:off x="399818" y="612648"/>
            <a:ext cx="1099798" cy="823760"/>
          </a:xfrm>
          <a:custGeom>
            <a:avLst/>
            <a:gdLst/>
            <a:ahLst/>
            <a:cxnLst/>
            <a:rect l="l" t="t" r="r" b="b"/>
            <a:pathLst>
              <a:path w="1520483" h="1928257">
                <a:moveTo>
                  <a:pt x="0" y="0"/>
                </a:moveTo>
                <a:lnTo>
                  <a:pt x="1520482" y="0"/>
                </a:lnTo>
                <a:lnTo>
                  <a:pt x="1520482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A0030A-C45F-11C5-54CC-CA68F3578E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User sends an SQL query. 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Query Processor checks and executes the query. 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Transaction Manager manages the transaction safely. 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Storage Manager accesses the required data. 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The result is returned to the user.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999540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3C73C-29DD-E0BD-DB5E-F996EB5A1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         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B83D7F-4F93-A3D0-9354-162092C8A6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1057" y="1910443"/>
            <a:ext cx="6558643" cy="3580720"/>
          </a:xfrm>
        </p:spPr>
        <p:txBody>
          <a:bodyPr/>
          <a:lstStyle/>
          <a:p>
            <a:r>
              <a:rPr lang="en-IN" dirty="0"/>
              <a:t>Manages student records efficiently. </a:t>
            </a:r>
          </a:p>
          <a:p>
            <a:r>
              <a:rPr lang="en-IN" dirty="0"/>
              <a:t>Organizes course information. </a:t>
            </a:r>
          </a:p>
          <a:p>
            <a:r>
              <a:rPr lang="en-IN" dirty="0"/>
              <a:t>Simplifies faculty management. </a:t>
            </a:r>
          </a:p>
          <a:p>
            <a:r>
              <a:rPr lang="en-IN" dirty="0"/>
              <a:t>Improves academic record keeping. </a:t>
            </a:r>
          </a:p>
          <a:p>
            <a:r>
              <a:rPr lang="en-IN" dirty="0"/>
              <a:t>Reduces paperwork.</a:t>
            </a:r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6A916259-AD48-C6FA-02C4-F08B2AF0CA08}"/>
              </a:ext>
            </a:extLst>
          </p:cNvPr>
          <p:cNvSpPr/>
          <p:nvPr/>
        </p:nvSpPr>
        <p:spPr>
          <a:xfrm>
            <a:off x="9640824" y="484566"/>
            <a:ext cx="1524000" cy="1086679"/>
          </a:xfrm>
          <a:custGeom>
            <a:avLst/>
            <a:gdLst/>
            <a:ahLst/>
            <a:cxnLst/>
            <a:rect l="l" t="t" r="r" b="b"/>
            <a:pathLst>
              <a:path w="1938300" h="1928257">
                <a:moveTo>
                  <a:pt x="0" y="0"/>
                </a:moveTo>
                <a:lnTo>
                  <a:pt x="1938300" y="0"/>
                </a:lnTo>
                <a:lnTo>
                  <a:pt x="1938300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00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4">
            <a:extLst>
              <a:ext uri="{FF2B5EF4-FFF2-40B4-BE49-F238E27FC236}">
                <a16:creationId xmlns:a16="http://schemas.microsoft.com/office/drawing/2014/main" id="{038F08A7-47C4-C157-F3F0-128ADE104ED6}"/>
              </a:ext>
            </a:extLst>
          </p:cNvPr>
          <p:cNvSpPr/>
          <p:nvPr/>
        </p:nvSpPr>
        <p:spPr>
          <a:xfrm>
            <a:off x="741724" y="692621"/>
            <a:ext cx="1182094" cy="878624"/>
          </a:xfrm>
          <a:custGeom>
            <a:avLst/>
            <a:gdLst/>
            <a:ahLst/>
            <a:cxnLst/>
            <a:rect l="l" t="t" r="r" b="b"/>
            <a:pathLst>
              <a:path w="1520483" h="1928257">
                <a:moveTo>
                  <a:pt x="0" y="0"/>
                </a:moveTo>
                <a:lnTo>
                  <a:pt x="1520482" y="0"/>
                </a:lnTo>
                <a:lnTo>
                  <a:pt x="1520482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6788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E98E8-DE1A-2DD7-0847-6505C69F5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             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FB96F2-0944-D87D-3D97-1ACD095E14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Query Processor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processes SQL queries. 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Storage Manager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manages data storage and retrieval. 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Transaction Manager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ensures safe and reliable transactions. 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All three components work together for efficient database management. 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They make the DBMS fast, secure, and reliable. </a:t>
            </a:r>
          </a:p>
          <a:p>
            <a:endParaRPr lang="en-IN" dirty="0"/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C4A28130-34CD-B66D-EEA3-B394B0F47181}"/>
              </a:ext>
            </a:extLst>
          </p:cNvPr>
          <p:cNvSpPr/>
          <p:nvPr/>
        </p:nvSpPr>
        <p:spPr>
          <a:xfrm>
            <a:off x="9640824" y="603504"/>
            <a:ext cx="1286256" cy="967741"/>
          </a:xfrm>
          <a:custGeom>
            <a:avLst/>
            <a:gdLst/>
            <a:ahLst/>
            <a:cxnLst/>
            <a:rect l="l" t="t" r="r" b="b"/>
            <a:pathLst>
              <a:path w="1938300" h="1928257">
                <a:moveTo>
                  <a:pt x="0" y="0"/>
                </a:moveTo>
                <a:lnTo>
                  <a:pt x="1938300" y="0"/>
                </a:lnTo>
                <a:lnTo>
                  <a:pt x="1938300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00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4">
            <a:extLst>
              <a:ext uri="{FF2B5EF4-FFF2-40B4-BE49-F238E27FC236}">
                <a16:creationId xmlns:a16="http://schemas.microsoft.com/office/drawing/2014/main" id="{7EF71B0E-8D28-CB10-3C82-0C998B2D67B7}"/>
              </a:ext>
            </a:extLst>
          </p:cNvPr>
          <p:cNvSpPr/>
          <p:nvPr/>
        </p:nvSpPr>
        <p:spPr>
          <a:xfrm>
            <a:off x="628948" y="603504"/>
            <a:ext cx="1099798" cy="832904"/>
          </a:xfrm>
          <a:custGeom>
            <a:avLst/>
            <a:gdLst/>
            <a:ahLst/>
            <a:cxnLst/>
            <a:rect l="l" t="t" r="r" b="b"/>
            <a:pathLst>
              <a:path w="1520483" h="1928257">
                <a:moveTo>
                  <a:pt x="0" y="0"/>
                </a:moveTo>
                <a:lnTo>
                  <a:pt x="1520482" y="0"/>
                </a:lnTo>
                <a:lnTo>
                  <a:pt x="1520482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0116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C4B63-6F26-5961-F379-58EE73042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69571"/>
            <a:ext cx="10515600" cy="1159329"/>
          </a:xfrm>
        </p:spPr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FD2FD8-776F-ED11-459D-D57631CE04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7048" y="2258568"/>
            <a:ext cx="10424160" cy="404164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b="1" dirty="0"/>
          </a:p>
          <a:p>
            <a:r>
              <a:rPr lang="en-IN" dirty="0"/>
              <a:t>In an Entity-Relationship (ER) model, entities represent real-world objects stored in a database. Based on their dependency, entities are classified into:</a:t>
            </a:r>
          </a:p>
          <a:p>
            <a:pPr lvl="1"/>
            <a:r>
              <a:rPr lang="en-IN" b="1" dirty="0"/>
              <a:t>Strong Entity</a:t>
            </a:r>
            <a:r>
              <a:rPr lang="en-IN" dirty="0"/>
              <a:t> </a:t>
            </a:r>
          </a:p>
          <a:p>
            <a:pPr lvl="1"/>
            <a:r>
              <a:rPr lang="en-IN" b="1" dirty="0"/>
              <a:t>Weak Entity</a:t>
            </a:r>
            <a:r>
              <a:rPr lang="en-IN" dirty="0"/>
              <a:t> </a:t>
            </a:r>
          </a:p>
          <a:p>
            <a:pPr marL="0" indent="0">
              <a:buNone/>
            </a:pPr>
            <a:r>
              <a:rPr lang="en-IN" dirty="0"/>
              <a:t>Understanding these entities helps in designing an efficient and accurate database.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C4F963-63A4-6861-9615-C858542FE598}"/>
              </a:ext>
            </a:extLst>
          </p:cNvPr>
          <p:cNvSpPr txBox="1"/>
          <p:nvPr/>
        </p:nvSpPr>
        <p:spPr>
          <a:xfrm>
            <a:off x="1943780" y="639867"/>
            <a:ext cx="830443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/>
              <a:t>Q5) Strong and Weak Entities in ER </a:t>
            </a:r>
            <a:r>
              <a:rPr lang="en-IN" sz="3200" dirty="0" err="1"/>
              <a:t>Modeling</a:t>
            </a:r>
            <a:endParaRPr lang="en-IN" sz="3200" dirty="0"/>
          </a:p>
        </p:txBody>
      </p:sp>
      <p:sp>
        <p:nvSpPr>
          <p:cNvPr id="6" name="Freeform 3">
            <a:extLst>
              <a:ext uri="{FF2B5EF4-FFF2-40B4-BE49-F238E27FC236}">
                <a16:creationId xmlns:a16="http://schemas.microsoft.com/office/drawing/2014/main" id="{1C70ADC9-A9B8-BAD4-E86E-5564A187EC76}"/>
              </a:ext>
            </a:extLst>
          </p:cNvPr>
          <p:cNvSpPr/>
          <p:nvPr/>
        </p:nvSpPr>
        <p:spPr>
          <a:xfrm>
            <a:off x="9988296" y="557784"/>
            <a:ext cx="1365504" cy="948112"/>
          </a:xfrm>
          <a:custGeom>
            <a:avLst/>
            <a:gdLst/>
            <a:ahLst/>
            <a:cxnLst/>
            <a:rect l="l" t="t" r="r" b="b"/>
            <a:pathLst>
              <a:path w="1938300" h="1928257">
                <a:moveTo>
                  <a:pt x="0" y="0"/>
                </a:moveTo>
                <a:lnTo>
                  <a:pt x="1938300" y="0"/>
                </a:lnTo>
                <a:lnTo>
                  <a:pt x="1938300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00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4">
            <a:extLst>
              <a:ext uri="{FF2B5EF4-FFF2-40B4-BE49-F238E27FC236}">
                <a16:creationId xmlns:a16="http://schemas.microsoft.com/office/drawing/2014/main" id="{61261911-C46C-31EE-D119-70D719D916EF}"/>
              </a:ext>
            </a:extLst>
          </p:cNvPr>
          <p:cNvSpPr/>
          <p:nvPr/>
        </p:nvSpPr>
        <p:spPr>
          <a:xfrm>
            <a:off x="399818" y="557784"/>
            <a:ext cx="1127230" cy="878624"/>
          </a:xfrm>
          <a:custGeom>
            <a:avLst/>
            <a:gdLst/>
            <a:ahLst/>
            <a:cxnLst/>
            <a:rect l="l" t="t" r="r" b="b"/>
            <a:pathLst>
              <a:path w="1520483" h="1928257">
                <a:moveTo>
                  <a:pt x="0" y="0"/>
                </a:moveTo>
                <a:lnTo>
                  <a:pt x="1520482" y="0"/>
                </a:lnTo>
                <a:lnTo>
                  <a:pt x="1520482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7103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E6EBD-CD22-4422-A1CD-BE2051A4F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            Components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D2891E3-FEBB-E800-E723-3E189C35114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b="1" dirty="0"/>
              <a:t>1. Strong Entity</a:t>
            </a:r>
          </a:p>
          <a:p>
            <a:pPr lvl="1"/>
            <a:r>
              <a:rPr lang="en-IN" dirty="0"/>
              <a:t>Has its own Primary Key. </a:t>
            </a:r>
          </a:p>
          <a:p>
            <a:pPr lvl="1"/>
            <a:r>
              <a:rPr lang="en-IN" dirty="0"/>
              <a:t>Exists independently.  </a:t>
            </a:r>
          </a:p>
          <a:p>
            <a:pPr marL="0" indent="0">
              <a:buNone/>
            </a:pPr>
            <a:r>
              <a:rPr lang="en-IN" b="1" dirty="0"/>
              <a:t>Example:</a:t>
            </a:r>
            <a:r>
              <a:rPr lang="en-IN" dirty="0"/>
              <a:t> Customer 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/>
              <a:t>2. Weak Entity</a:t>
            </a:r>
          </a:p>
          <a:p>
            <a:pPr lvl="1"/>
            <a:r>
              <a:rPr lang="en-IN" dirty="0"/>
              <a:t>Depends on a Strong Entity. </a:t>
            </a:r>
          </a:p>
          <a:p>
            <a:pPr lvl="1"/>
            <a:r>
              <a:rPr lang="en-IN" dirty="0"/>
              <a:t>Cannot exist without the Strong Entity. </a:t>
            </a:r>
          </a:p>
          <a:p>
            <a:pPr marL="0" indent="0">
              <a:buNone/>
            </a:pPr>
            <a:r>
              <a:rPr lang="en-IN" b="1" dirty="0"/>
              <a:t>Example:</a:t>
            </a:r>
            <a:r>
              <a:rPr lang="en-IN" dirty="0"/>
              <a:t> Order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21CDE11-D9FE-2C57-76E2-6E5F72C4E83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b="1" dirty="0"/>
              <a:t>3. Attributes</a:t>
            </a:r>
          </a:p>
          <a:p>
            <a:pPr marL="0" indent="0">
              <a:buNone/>
            </a:pPr>
            <a:r>
              <a:rPr lang="en-IN" b="1" dirty="0"/>
              <a:t>Customer</a:t>
            </a:r>
            <a:endParaRPr lang="en-IN" dirty="0"/>
          </a:p>
          <a:p>
            <a:pPr lvl="1"/>
            <a:r>
              <a:rPr lang="en-IN" dirty="0" err="1"/>
              <a:t>Customer_ID</a:t>
            </a:r>
            <a:r>
              <a:rPr lang="en-IN" dirty="0"/>
              <a:t> (PK) </a:t>
            </a:r>
          </a:p>
          <a:p>
            <a:pPr lvl="1"/>
            <a:r>
              <a:rPr lang="en-IN" dirty="0"/>
              <a:t>Name </a:t>
            </a:r>
          </a:p>
          <a:p>
            <a:pPr lvl="1"/>
            <a:r>
              <a:rPr lang="en-IN" dirty="0"/>
              <a:t>Phone </a:t>
            </a:r>
          </a:p>
          <a:p>
            <a:pPr marL="0" indent="0">
              <a:buNone/>
            </a:pPr>
            <a:r>
              <a:rPr lang="en-IN" b="1" dirty="0"/>
              <a:t>Order</a:t>
            </a:r>
            <a:endParaRPr lang="en-IN" dirty="0"/>
          </a:p>
          <a:p>
            <a:pPr lvl="1"/>
            <a:r>
              <a:rPr lang="en-IN" dirty="0" err="1"/>
              <a:t>Order_No</a:t>
            </a:r>
            <a:r>
              <a:rPr lang="en-IN" dirty="0"/>
              <a:t> (Partial/Dependent Key) </a:t>
            </a:r>
          </a:p>
          <a:p>
            <a:pPr lvl="1"/>
            <a:r>
              <a:rPr lang="en-IN" dirty="0" err="1"/>
              <a:t>Order_Date</a:t>
            </a:r>
            <a:r>
              <a:rPr lang="en-IN" dirty="0"/>
              <a:t> </a:t>
            </a:r>
          </a:p>
          <a:p>
            <a:pPr lvl="1"/>
            <a:r>
              <a:rPr lang="en-IN" dirty="0"/>
              <a:t>Amount </a:t>
            </a:r>
          </a:p>
          <a:p>
            <a:pPr marL="0" indent="0">
              <a:buNone/>
            </a:pPr>
            <a:r>
              <a:rPr lang="en-IN" b="1" dirty="0"/>
              <a:t>4. Relationship</a:t>
            </a:r>
          </a:p>
          <a:p>
            <a:r>
              <a:rPr lang="en-IN" dirty="0"/>
              <a:t>Customer </a:t>
            </a:r>
            <a:r>
              <a:rPr lang="en-IN" b="1" dirty="0"/>
              <a:t>Places</a:t>
            </a:r>
            <a:r>
              <a:rPr lang="en-IN" dirty="0"/>
              <a:t> Order.</a:t>
            </a:r>
          </a:p>
          <a:p>
            <a:endParaRPr lang="en-IN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B4DE32CA-14DD-DBAB-7E54-BA8C5DCF863A}"/>
              </a:ext>
            </a:extLst>
          </p:cNvPr>
          <p:cNvSpPr/>
          <p:nvPr/>
        </p:nvSpPr>
        <p:spPr>
          <a:xfrm>
            <a:off x="9896856" y="681037"/>
            <a:ext cx="1203960" cy="890208"/>
          </a:xfrm>
          <a:custGeom>
            <a:avLst/>
            <a:gdLst/>
            <a:ahLst/>
            <a:cxnLst/>
            <a:rect l="l" t="t" r="r" b="b"/>
            <a:pathLst>
              <a:path w="1938300" h="1928257">
                <a:moveTo>
                  <a:pt x="0" y="0"/>
                </a:moveTo>
                <a:lnTo>
                  <a:pt x="1938300" y="0"/>
                </a:lnTo>
                <a:lnTo>
                  <a:pt x="1938300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00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4">
            <a:extLst>
              <a:ext uri="{FF2B5EF4-FFF2-40B4-BE49-F238E27FC236}">
                <a16:creationId xmlns:a16="http://schemas.microsoft.com/office/drawing/2014/main" id="{38D8DE3C-F815-857C-1686-306C6EAF18AA}"/>
              </a:ext>
            </a:extLst>
          </p:cNvPr>
          <p:cNvSpPr/>
          <p:nvPr/>
        </p:nvSpPr>
        <p:spPr>
          <a:xfrm>
            <a:off x="591842" y="546200"/>
            <a:ext cx="1136374" cy="890208"/>
          </a:xfrm>
          <a:custGeom>
            <a:avLst/>
            <a:gdLst/>
            <a:ahLst/>
            <a:cxnLst/>
            <a:rect l="l" t="t" r="r" b="b"/>
            <a:pathLst>
              <a:path w="1520483" h="1928257">
                <a:moveTo>
                  <a:pt x="0" y="0"/>
                </a:moveTo>
                <a:lnTo>
                  <a:pt x="1520482" y="0"/>
                </a:lnTo>
                <a:lnTo>
                  <a:pt x="1520482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6789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C250D-2593-4016-9D1F-0531D7627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              ER Diagram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DE6B803-B9AF-8399-5508-D280A387FB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51415" y="1926771"/>
            <a:ext cx="4528992" cy="3811337"/>
          </a:xfrm>
          <a:prstGeom prst="rect">
            <a:avLst/>
          </a:prstGeom>
        </p:spPr>
      </p:pic>
      <p:sp>
        <p:nvSpPr>
          <p:cNvPr id="7" name="Freeform 4">
            <a:extLst>
              <a:ext uri="{FF2B5EF4-FFF2-40B4-BE49-F238E27FC236}">
                <a16:creationId xmlns:a16="http://schemas.microsoft.com/office/drawing/2014/main" id="{6D3C5715-DC1E-BDE8-AC70-654D5E2D8D02}"/>
              </a:ext>
            </a:extLst>
          </p:cNvPr>
          <p:cNvSpPr/>
          <p:nvPr/>
        </p:nvSpPr>
        <p:spPr>
          <a:xfrm>
            <a:off x="399818" y="223566"/>
            <a:ext cx="1520483" cy="1282146"/>
          </a:xfrm>
          <a:custGeom>
            <a:avLst/>
            <a:gdLst/>
            <a:ahLst/>
            <a:cxnLst/>
            <a:rect l="l" t="t" r="r" b="b"/>
            <a:pathLst>
              <a:path w="1520483" h="1928257">
                <a:moveTo>
                  <a:pt x="0" y="0"/>
                </a:moveTo>
                <a:lnTo>
                  <a:pt x="1520482" y="0"/>
                </a:lnTo>
                <a:lnTo>
                  <a:pt x="1520482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3">
            <a:extLst>
              <a:ext uri="{FF2B5EF4-FFF2-40B4-BE49-F238E27FC236}">
                <a16:creationId xmlns:a16="http://schemas.microsoft.com/office/drawing/2014/main" id="{5E19749D-5B05-1ACB-389D-ABD922FFC78C}"/>
              </a:ext>
            </a:extLst>
          </p:cNvPr>
          <p:cNvSpPr/>
          <p:nvPr/>
        </p:nvSpPr>
        <p:spPr>
          <a:xfrm>
            <a:off x="9640824" y="484566"/>
            <a:ext cx="1524000" cy="1086679"/>
          </a:xfrm>
          <a:custGeom>
            <a:avLst/>
            <a:gdLst/>
            <a:ahLst/>
            <a:cxnLst/>
            <a:rect l="l" t="t" r="r" b="b"/>
            <a:pathLst>
              <a:path w="1938300" h="1928257">
                <a:moveTo>
                  <a:pt x="0" y="0"/>
                </a:moveTo>
                <a:lnTo>
                  <a:pt x="1938300" y="0"/>
                </a:lnTo>
                <a:lnTo>
                  <a:pt x="1938300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001"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8492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D1E5FC9-FE0C-E01D-EFDA-42808A697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    Comparison Table</a:t>
            </a:r>
          </a:p>
        </p:txBody>
      </p:sp>
      <p:graphicFrame>
        <p:nvGraphicFramePr>
          <p:cNvPr id="15" name="Content Placeholder 14">
            <a:extLst>
              <a:ext uri="{FF2B5EF4-FFF2-40B4-BE49-F238E27FC236}">
                <a16:creationId xmlns:a16="http://schemas.microsoft.com/office/drawing/2014/main" id="{C27B9808-0563-5B89-C8EF-1DBD0DBBE216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579881793"/>
              </p:ext>
            </p:extLst>
          </p:nvPr>
        </p:nvGraphicFramePr>
        <p:xfrm>
          <a:off x="1273629" y="2041071"/>
          <a:ext cx="9682842" cy="40168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41421">
                  <a:extLst>
                    <a:ext uri="{9D8B030D-6E8A-4147-A177-3AD203B41FA5}">
                      <a16:colId xmlns:a16="http://schemas.microsoft.com/office/drawing/2014/main" val="1396517711"/>
                    </a:ext>
                  </a:extLst>
                </a:gridCol>
                <a:gridCol w="4841421">
                  <a:extLst>
                    <a:ext uri="{9D8B030D-6E8A-4147-A177-3AD203B41FA5}">
                      <a16:colId xmlns:a16="http://schemas.microsoft.com/office/drawing/2014/main" val="388055064"/>
                    </a:ext>
                  </a:extLst>
                </a:gridCol>
              </a:tblGrid>
              <a:tr h="8033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Strong   Entity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              Weak   Entity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0929941"/>
                  </a:ext>
                </a:extLst>
              </a:tr>
              <a:tr h="8033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Has Primary Key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Depends on Strong Entity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081068"/>
                  </a:ext>
                </a:extLst>
              </a:tr>
              <a:tr h="8033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Exists Independently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Cannot Exist Alone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4088939"/>
                  </a:ext>
                </a:extLst>
              </a:tr>
              <a:tr h="8033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Single Rectangle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Double Rectangle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9991762"/>
                  </a:ext>
                </a:extLst>
              </a:tr>
              <a:tr h="8033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Independent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Dependent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3823421"/>
                  </a:ext>
                </a:extLst>
              </a:tr>
            </a:tbl>
          </a:graphicData>
        </a:graphic>
      </p:graphicFrame>
      <p:sp>
        <p:nvSpPr>
          <p:cNvPr id="3" name="Freeform 3">
            <a:extLst>
              <a:ext uri="{FF2B5EF4-FFF2-40B4-BE49-F238E27FC236}">
                <a16:creationId xmlns:a16="http://schemas.microsoft.com/office/drawing/2014/main" id="{659A7392-5191-6E94-1EC5-F576DE037EFE}"/>
              </a:ext>
            </a:extLst>
          </p:cNvPr>
          <p:cNvSpPr/>
          <p:nvPr/>
        </p:nvSpPr>
        <p:spPr>
          <a:xfrm>
            <a:off x="9640824" y="438912"/>
            <a:ext cx="1315647" cy="1132333"/>
          </a:xfrm>
          <a:custGeom>
            <a:avLst/>
            <a:gdLst/>
            <a:ahLst/>
            <a:cxnLst/>
            <a:rect l="l" t="t" r="r" b="b"/>
            <a:pathLst>
              <a:path w="1938300" h="1928257">
                <a:moveTo>
                  <a:pt x="0" y="0"/>
                </a:moveTo>
                <a:lnTo>
                  <a:pt x="1938300" y="0"/>
                </a:lnTo>
                <a:lnTo>
                  <a:pt x="1938300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00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4">
            <a:extLst>
              <a:ext uri="{FF2B5EF4-FFF2-40B4-BE49-F238E27FC236}">
                <a16:creationId xmlns:a16="http://schemas.microsoft.com/office/drawing/2014/main" id="{D689124F-34E3-3A77-1CD3-E057AC4888CC}"/>
              </a:ext>
            </a:extLst>
          </p:cNvPr>
          <p:cNvSpPr/>
          <p:nvPr/>
        </p:nvSpPr>
        <p:spPr>
          <a:xfrm>
            <a:off x="436394" y="573749"/>
            <a:ext cx="1191238" cy="997496"/>
          </a:xfrm>
          <a:custGeom>
            <a:avLst/>
            <a:gdLst/>
            <a:ahLst/>
            <a:cxnLst/>
            <a:rect l="l" t="t" r="r" b="b"/>
            <a:pathLst>
              <a:path w="1520483" h="1928257">
                <a:moveTo>
                  <a:pt x="0" y="0"/>
                </a:moveTo>
                <a:lnTo>
                  <a:pt x="1520482" y="0"/>
                </a:lnTo>
                <a:lnTo>
                  <a:pt x="1520482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3020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7B77200-FA7C-9F4B-0C15-105CB94F1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                Advantages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679A4F7-8C9A-610A-6750-8A483E28DB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50572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Strong Entity</a:t>
            </a:r>
          </a:p>
          <a:p>
            <a:pPr lvl="1"/>
            <a:r>
              <a:rPr lang="en-IN" dirty="0"/>
              <a:t>Easy to identify. </a:t>
            </a:r>
          </a:p>
          <a:p>
            <a:pPr lvl="1"/>
            <a:r>
              <a:rPr lang="en-IN" dirty="0"/>
              <a:t>Stores independent data. </a:t>
            </a:r>
          </a:p>
          <a:p>
            <a:pPr lvl="1"/>
            <a:r>
              <a:rPr lang="en-IN" dirty="0"/>
              <a:t>Simplifies database design.</a:t>
            </a:r>
          </a:p>
          <a:p>
            <a:pPr marL="457200" lvl="1" indent="0">
              <a:buNone/>
            </a:pPr>
            <a:r>
              <a:rPr lang="en-IN" dirty="0"/>
              <a:t> </a:t>
            </a:r>
          </a:p>
          <a:p>
            <a:pPr marL="0" indent="0">
              <a:buNone/>
            </a:pPr>
            <a:r>
              <a:rPr lang="en-IN" b="1" dirty="0"/>
              <a:t>Weak Entity</a:t>
            </a:r>
          </a:p>
          <a:p>
            <a:pPr lvl="1"/>
            <a:r>
              <a:rPr lang="en-IN" dirty="0"/>
              <a:t>Reduces data redundancy. </a:t>
            </a:r>
          </a:p>
          <a:p>
            <a:pPr lvl="1"/>
            <a:r>
              <a:rPr lang="en-IN" dirty="0"/>
              <a:t>Maintains data integrity. </a:t>
            </a:r>
          </a:p>
          <a:p>
            <a:pPr lvl="1"/>
            <a:r>
              <a:rPr lang="en-IN" dirty="0"/>
              <a:t>Represents dependent information accurately.</a:t>
            </a:r>
          </a:p>
          <a:p>
            <a:endParaRPr lang="en-IN" dirty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5060743A-E1C6-77E7-90CC-42DEBADB5F8D}"/>
              </a:ext>
            </a:extLst>
          </p:cNvPr>
          <p:cNvSpPr/>
          <p:nvPr/>
        </p:nvSpPr>
        <p:spPr>
          <a:xfrm>
            <a:off x="9640824" y="539496"/>
            <a:ext cx="1304544" cy="1031749"/>
          </a:xfrm>
          <a:custGeom>
            <a:avLst/>
            <a:gdLst/>
            <a:ahLst/>
            <a:cxnLst/>
            <a:rect l="l" t="t" r="r" b="b"/>
            <a:pathLst>
              <a:path w="1938300" h="1928257">
                <a:moveTo>
                  <a:pt x="0" y="0"/>
                </a:moveTo>
                <a:lnTo>
                  <a:pt x="1938300" y="0"/>
                </a:lnTo>
                <a:lnTo>
                  <a:pt x="1938300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00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83935CFC-EB37-AE9E-0185-60C60A83CECF}"/>
              </a:ext>
            </a:extLst>
          </p:cNvPr>
          <p:cNvSpPr/>
          <p:nvPr/>
        </p:nvSpPr>
        <p:spPr>
          <a:xfrm>
            <a:off x="729438" y="512031"/>
            <a:ext cx="1182094" cy="1031750"/>
          </a:xfrm>
          <a:custGeom>
            <a:avLst/>
            <a:gdLst/>
            <a:ahLst/>
            <a:cxnLst/>
            <a:rect l="l" t="t" r="r" b="b"/>
            <a:pathLst>
              <a:path w="1520483" h="1928257">
                <a:moveTo>
                  <a:pt x="0" y="0"/>
                </a:moveTo>
                <a:lnTo>
                  <a:pt x="1520482" y="0"/>
                </a:lnTo>
                <a:lnTo>
                  <a:pt x="1520482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9662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52D29-125B-CA52-A7D5-BC8877508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               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AF3EC3-2403-A25E-CA89-868502331B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IN" dirty="0"/>
              <a:t> A </a:t>
            </a:r>
            <a:r>
              <a:rPr lang="en-IN" b="1" dirty="0"/>
              <a:t>Strong Entity</a:t>
            </a:r>
            <a:r>
              <a:rPr lang="en-IN" dirty="0"/>
              <a:t> has its own primary key and exists independently. </a:t>
            </a:r>
          </a:p>
          <a:p>
            <a:pPr>
              <a:lnSpc>
                <a:spcPct val="150000"/>
              </a:lnSpc>
            </a:pPr>
            <a:r>
              <a:rPr lang="en-IN" dirty="0"/>
              <a:t> A </a:t>
            </a:r>
            <a:r>
              <a:rPr lang="en-IN" b="1" dirty="0"/>
              <a:t>Weak Entity</a:t>
            </a:r>
            <a:r>
              <a:rPr lang="en-IN" dirty="0"/>
              <a:t> depends on a strong entity for identification.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dirty="0"/>
              <a:t>Using both entities improves database structure, integrity, and relationship management. </a:t>
            </a:r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B8872316-9FE8-3691-CF2B-C111938337C2}"/>
              </a:ext>
            </a:extLst>
          </p:cNvPr>
          <p:cNvSpPr/>
          <p:nvPr/>
        </p:nvSpPr>
        <p:spPr>
          <a:xfrm>
            <a:off x="9640824" y="585216"/>
            <a:ext cx="1286256" cy="986029"/>
          </a:xfrm>
          <a:custGeom>
            <a:avLst/>
            <a:gdLst/>
            <a:ahLst/>
            <a:cxnLst/>
            <a:rect l="l" t="t" r="r" b="b"/>
            <a:pathLst>
              <a:path w="1938300" h="1928257">
                <a:moveTo>
                  <a:pt x="0" y="0"/>
                </a:moveTo>
                <a:lnTo>
                  <a:pt x="1938300" y="0"/>
                </a:lnTo>
                <a:lnTo>
                  <a:pt x="1938300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00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4">
            <a:extLst>
              <a:ext uri="{FF2B5EF4-FFF2-40B4-BE49-F238E27FC236}">
                <a16:creationId xmlns:a16="http://schemas.microsoft.com/office/drawing/2014/main" id="{E9552480-914C-66B4-7EE0-792B02D81A3D}"/>
              </a:ext>
            </a:extLst>
          </p:cNvPr>
          <p:cNvSpPr/>
          <p:nvPr/>
        </p:nvSpPr>
        <p:spPr>
          <a:xfrm>
            <a:off x="399818" y="585216"/>
            <a:ext cx="1286256" cy="1040130"/>
          </a:xfrm>
          <a:custGeom>
            <a:avLst/>
            <a:gdLst/>
            <a:ahLst/>
            <a:cxnLst/>
            <a:rect l="l" t="t" r="r" b="b"/>
            <a:pathLst>
              <a:path w="1520483" h="1928257">
                <a:moveTo>
                  <a:pt x="0" y="0"/>
                </a:moveTo>
                <a:lnTo>
                  <a:pt x="1520482" y="0"/>
                </a:lnTo>
                <a:lnTo>
                  <a:pt x="1520482" y="1928258"/>
                </a:lnTo>
                <a:lnTo>
                  <a:pt x="0" y="1928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7149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technical prt</Template>
  <TotalTime>245</TotalTime>
  <Words>1092</Words>
  <Application>Microsoft Office PowerPoint</Application>
  <PresentationFormat>Widescreen</PresentationFormat>
  <Paragraphs>196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Aptos</vt:lpstr>
      <vt:lpstr>Aptos Display</vt:lpstr>
      <vt:lpstr>Arial</vt:lpstr>
      <vt:lpstr>Times New Roman</vt:lpstr>
      <vt:lpstr>Office Theme</vt:lpstr>
      <vt:lpstr>CO1-AT3-TECHNICAL PRESENTATION</vt:lpstr>
      <vt:lpstr>Introduction :-</vt:lpstr>
      <vt:lpstr>               Components of ER Diagram</vt:lpstr>
      <vt:lpstr>                              ER Diagram</vt:lpstr>
      <vt:lpstr>                         Advantages</vt:lpstr>
      <vt:lpstr>                    Conclusion</vt:lpstr>
      <vt:lpstr>Introduction</vt:lpstr>
      <vt:lpstr>                       Components</vt:lpstr>
      <vt:lpstr>                          ER Diagram</vt:lpstr>
      <vt:lpstr>                         Advantages</vt:lpstr>
      <vt:lpstr>                                 Conclusion</vt:lpstr>
      <vt:lpstr>Introduction</vt:lpstr>
      <vt:lpstr>Type of data independence</vt:lpstr>
      <vt:lpstr>                            Advantages</vt:lpstr>
      <vt:lpstr>                          Conclusion</vt:lpstr>
      <vt:lpstr>Introduction</vt:lpstr>
      <vt:lpstr>                           Components</vt:lpstr>
      <vt:lpstr>                              Diagram</vt:lpstr>
      <vt:lpstr>                        Advantages</vt:lpstr>
      <vt:lpstr>                             Conclusion</vt:lpstr>
      <vt:lpstr>Introduction</vt:lpstr>
      <vt:lpstr>                           Components</vt:lpstr>
      <vt:lpstr>                             ER Diagram</vt:lpstr>
      <vt:lpstr>                   Comparison Table</vt:lpstr>
      <vt:lpstr>                               Advantages</vt:lpstr>
      <vt:lpstr>                              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JAYA SHREE</dc:creator>
  <cp:lastModifiedBy>JAYA SHREE</cp:lastModifiedBy>
  <cp:revision>2</cp:revision>
  <dcterms:created xsi:type="dcterms:W3CDTF">2026-07-24T02:10:53Z</dcterms:created>
  <dcterms:modified xsi:type="dcterms:W3CDTF">2026-07-26T12:20:39Z</dcterms:modified>
</cp:coreProperties>
</file>